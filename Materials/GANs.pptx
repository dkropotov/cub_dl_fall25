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7" Type="http://schemas.openxmlformats.org/officeDocument/2006/relationships/image" Target="../media/image10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mp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Generative Adversarial Networks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en-US" dirty="0"/>
              <a:t>Deep learning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A7905-2F43-56A1-D649-FB85BCED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Convolutional GAN (DCGAN, 2015)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C0A3E4-5739-C471-FDF2-C9258C238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586" y="1362515"/>
            <a:ext cx="5835950" cy="2400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96B20B-56B2-551B-150F-3E2A4A898335}"/>
              </a:ext>
            </a:extLst>
          </p:cNvPr>
          <p:cNvSpPr txBox="1"/>
          <p:nvPr/>
        </p:nvSpPr>
        <p:spPr>
          <a:xfrm>
            <a:off x="645695" y="2156059"/>
            <a:ext cx="40418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Generator: convolutional decoder</a:t>
            </a:r>
          </a:p>
          <a:p>
            <a:r>
              <a:rPr lang="en-US" sz="2000" dirty="0"/>
              <a:t>Discriminator: convolutional encoder</a:t>
            </a:r>
            <a:endParaRPr lang="ru-RU" sz="20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B6E1DE9E-0FD4-675A-F68D-A5DC0E159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5" y="3762938"/>
            <a:ext cx="10515600" cy="2984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Some elements:</a:t>
            </a:r>
          </a:p>
          <a:p>
            <a:r>
              <a:rPr lang="en-US" sz="2000" dirty="0"/>
              <a:t>Non-saturated loss for generator -</a:t>
            </a:r>
            <a:r>
              <a:rPr lang="en-US" sz="2000" dirty="0" err="1"/>
              <a:t>E_z</a:t>
            </a:r>
            <a:r>
              <a:rPr lang="en-US" sz="2000" dirty="0"/>
              <a:t> d(g(z))</a:t>
            </a:r>
          </a:p>
          <a:p>
            <a:r>
              <a:rPr lang="en-US" sz="2000" dirty="0"/>
              <a:t>Label smoothing for discriminator</a:t>
            </a:r>
          </a:p>
          <a:p>
            <a:r>
              <a:rPr lang="en-US" sz="2000" dirty="0" err="1"/>
              <a:t>Strided</a:t>
            </a:r>
            <a:r>
              <a:rPr lang="en-US" sz="2000" dirty="0"/>
              <a:t> convolutions instead of pooling</a:t>
            </a:r>
          </a:p>
          <a:p>
            <a:r>
              <a:rPr lang="en-US" sz="2000" dirty="0"/>
              <a:t>Batch normalization</a:t>
            </a:r>
          </a:p>
          <a:p>
            <a:r>
              <a:rPr lang="en-US" sz="2000" dirty="0" err="1"/>
              <a:t>Relu</a:t>
            </a:r>
            <a:r>
              <a:rPr lang="en-US" sz="2000" dirty="0"/>
              <a:t> in G, </a:t>
            </a:r>
            <a:r>
              <a:rPr lang="en-US" sz="2000" dirty="0" err="1"/>
              <a:t>LeakyRelu</a:t>
            </a:r>
            <a:r>
              <a:rPr lang="en-US" sz="2000" dirty="0"/>
              <a:t> in D</a:t>
            </a:r>
          </a:p>
          <a:p>
            <a:r>
              <a:rPr lang="en-US" sz="2000" dirty="0"/>
              <a:t>Different learning rates for optimization for D and G parameters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06144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C7757-A398-3064-E6E6-0DCE785A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DCGAN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9F267A-9707-ED99-1787-B2335FEB9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959" y="1498115"/>
            <a:ext cx="8487193" cy="4296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F20A20-F376-BA1A-28E0-C91A19DF41F1}"/>
              </a:ext>
            </a:extLst>
          </p:cNvPr>
          <p:cNvSpPr txBox="1"/>
          <p:nvPr/>
        </p:nvSpPr>
        <p:spPr>
          <a:xfrm>
            <a:off x="838200" y="6092765"/>
            <a:ext cx="5213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quality of generated images is far from ideal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9973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A2F10-072F-4F46-8D81-39D004AD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41135-EB3C-F4B3-0DDE-8755D61D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Pix2Pix (2016)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24AF12-B239-C54D-B791-B438BC577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43" y="1806033"/>
            <a:ext cx="8736718" cy="3245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B521CD-52D2-F575-4BCD-0E49BA432C24}"/>
              </a:ext>
            </a:extLst>
          </p:cNvPr>
          <p:cNvSpPr txBox="1"/>
          <p:nvPr/>
        </p:nvSpPr>
        <p:spPr>
          <a:xfrm>
            <a:off x="499743" y="5419023"/>
            <a:ext cx="83982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Image to image generation, requires as the dataset a collection of parallel pairs</a:t>
            </a:r>
            <a:endParaRPr lang="ru-RU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13FC24-C5CA-EE04-4222-7ED50EBFF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90" y="1985167"/>
            <a:ext cx="1901363" cy="286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09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C6FC1-D3CE-7C12-9E21-3945184C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Pix2Pix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CF4B72-4B63-D757-98B6-BB5ADED06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114" y="1807641"/>
            <a:ext cx="3403393" cy="18288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A8ADFC-FF00-12ED-C68A-C529EC7DF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696" y="1789345"/>
            <a:ext cx="2061918" cy="1828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7BC29C-A919-792E-1BBC-C348AA022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096" y="1807641"/>
            <a:ext cx="2508379" cy="182889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5DE867-1AA9-3376-F06F-5F91599443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767" y="3974084"/>
            <a:ext cx="4804324" cy="78820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1E9839B-705E-128F-9B8B-9B6A34356B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766" y="4913375"/>
            <a:ext cx="3373631" cy="38736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EB58623-6614-D9DD-A897-B4D8EF3378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767" y="5762996"/>
            <a:ext cx="4184865" cy="3873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624EC4-B7B3-0143-C43C-8EF8215FE731}"/>
              </a:ext>
            </a:extLst>
          </p:cNvPr>
          <p:cNvSpPr txBox="1"/>
          <p:nvPr/>
        </p:nvSpPr>
        <p:spPr>
          <a:xfrm>
            <a:off x="2249139" y="1420013"/>
            <a:ext cx="1206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Generator: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276289-DADE-73D6-6D6A-F0EB5EBACD26}"/>
              </a:ext>
            </a:extLst>
          </p:cNvPr>
          <p:cNvSpPr txBox="1"/>
          <p:nvPr/>
        </p:nvSpPr>
        <p:spPr>
          <a:xfrm>
            <a:off x="7177678" y="1420013"/>
            <a:ext cx="1507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Discriminator: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665702-BFA0-CC1F-E5FA-98E7306C0A06}"/>
              </a:ext>
            </a:extLst>
          </p:cNvPr>
          <p:cNvSpPr txBox="1"/>
          <p:nvPr/>
        </p:nvSpPr>
        <p:spPr>
          <a:xfrm>
            <a:off x="625642" y="402336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 function: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412E1B-4B4A-8BB0-0BA7-CED948E7539A}"/>
              </a:ext>
            </a:extLst>
          </p:cNvPr>
          <p:cNvSpPr txBox="1"/>
          <p:nvPr/>
        </p:nvSpPr>
        <p:spPr>
          <a:xfrm>
            <a:off x="625642" y="4913375"/>
            <a:ext cx="129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Regularizer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412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81FA4-EF2F-E79B-3C3E-11E482FA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CycleGAN</a:t>
            </a:r>
            <a:r>
              <a:rPr lang="en-US" dirty="0"/>
              <a:t> (2017)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579987-7E2C-505A-6BE0-566B81D24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284" y="1512428"/>
            <a:ext cx="2021038" cy="25640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E26873-BCFE-BE7D-B41D-AB10D86BF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78" y="1673844"/>
            <a:ext cx="8968322" cy="27610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4173F7-CE02-CCD9-B578-D539AE4B3BD2}"/>
              </a:ext>
            </a:extLst>
          </p:cNvPr>
          <p:cNvSpPr txBox="1"/>
          <p:nvPr/>
        </p:nvSpPr>
        <p:spPr>
          <a:xfrm>
            <a:off x="465100" y="4880008"/>
            <a:ext cx="10410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Image to image generation, it is enough to have in the dataset separate images</a:t>
            </a:r>
            <a:r>
              <a:rPr lang="ru-RU" sz="2000" dirty="0"/>
              <a:t> </a:t>
            </a:r>
            <a:r>
              <a:rPr lang="en-US" sz="2000" dirty="0"/>
              <a:t>from each domain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69465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C36151-5081-5F2E-3DA0-51AFB1306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CycleGAN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E4B5D8-54EC-4EA1-C505-852ED3876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990" y="3729892"/>
            <a:ext cx="5200196" cy="6829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223F28-64CE-A942-7B0E-C70051F4B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542" y="4695257"/>
            <a:ext cx="3909803" cy="6959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028D68-660E-7789-D85E-95D9F6CBB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392" y="5634511"/>
            <a:ext cx="3833513" cy="101173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AB43E2-B249-50DA-22F5-9B12DE9EF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62512"/>
            <a:ext cx="2730026" cy="17664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4C7D7D-A5EF-6948-BF2B-4229CDB20BDD}"/>
              </a:ext>
            </a:extLst>
          </p:cNvPr>
          <p:cNvSpPr txBox="1"/>
          <p:nvPr/>
        </p:nvSpPr>
        <p:spPr>
          <a:xfrm>
            <a:off x="4600876" y="1944303"/>
            <a:ext cx="49508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G: transformation from domain X to domain Y</a:t>
            </a:r>
          </a:p>
          <a:p>
            <a:r>
              <a:rPr lang="en-US" sz="2000" dirty="0"/>
              <a:t>F: transformation from domain Y to domain X</a:t>
            </a:r>
            <a:endParaRPr lang="ru-RU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EA499F-2E75-E3CA-ADD4-92261A1CB84A}"/>
              </a:ext>
            </a:extLst>
          </p:cNvPr>
          <p:cNvSpPr txBox="1"/>
          <p:nvPr/>
        </p:nvSpPr>
        <p:spPr>
          <a:xfrm>
            <a:off x="812888" y="3691392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GAN loss:</a:t>
            </a:r>
            <a:endParaRPr lang="ru-R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73FF5-E861-69D8-32A9-A656B23312CE}"/>
              </a:ext>
            </a:extLst>
          </p:cNvPr>
          <p:cNvSpPr txBox="1"/>
          <p:nvPr/>
        </p:nvSpPr>
        <p:spPr>
          <a:xfrm>
            <a:off x="812888" y="4666468"/>
            <a:ext cx="1942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Consistency loss:</a:t>
            </a:r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377639-1CB1-AE3A-44D6-D5A56E12BB66}"/>
              </a:ext>
            </a:extLst>
          </p:cNvPr>
          <p:cNvSpPr txBox="1"/>
          <p:nvPr/>
        </p:nvSpPr>
        <p:spPr>
          <a:xfrm>
            <a:off x="838200" y="5583794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Full loss: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7683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B3BF4-45A6-69F5-22AB-61173178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StyleGAN (2018)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756D8F-B348-BAFA-EAB0-C342889CA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99715"/>
            <a:ext cx="3801177" cy="5065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E7D0A1-67B3-5F06-3F92-398E5F3C296B}"/>
              </a:ext>
            </a:extLst>
          </p:cNvPr>
          <p:cNvSpPr txBox="1"/>
          <p:nvPr/>
        </p:nvSpPr>
        <p:spPr>
          <a:xfrm>
            <a:off x="5585860" y="1578543"/>
            <a:ext cx="4933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High-resolution high-quality image generation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24359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FF198-F58A-09AD-DCC8-63108F80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StyleGAN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AF827E-99AA-C3BC-87BB-9E0974156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28" y="2084146"/>
            <a:ext cx="1380693" cy="438527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ADB5B6-CAC0-2320-7A8C-2658BD13B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053" y="2036020"/>
            <a:ext cx="3852358" cy="4433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D82557-FA9E-F595-CA4A-EE478A4763A1}"/>
              </a:ext>
            </a:extLst>
          </p:cNvPr>
          <p:cNvSpPr txBox="1"/>
          <p:nvPr/>
        </p:nvSpPr>
        <p:spPr>
          <a:xfrm>
            <a:off x="838200" y="1506022"/>
            <a:ext cx="2023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Classic generator: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5F80B-9728-47A8-CDFD-E6F804D5730F}"/>
              </a:ext>
            </a:extLst>
          </p:cNvPr>
          <p:cNvSpPr txBox="1"/>
          <p:nvPr/>
        </p:nvSpPr>
        <p:spPr>
          <a:xfrm>
            <a:off x="3976448" y="1490633"/>
            <a:ext cx="2543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Style-based generator:</a:t>
            </a:r>
            <a:endParaRPr lang="ru-RU" sz="2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D99A55-490F-EAF3-1351-7AF6B0443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768" y="2664847"/>
            <a:ext cx="3931866" cy="6943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FA1318-2669-BF43-B42A-8575668660DF}"/>
              </a:ext>
            </a:extLst>
          </p:cNvPr>
          <p:cNvSpPr txBox="1"/>
          <p:nvPr/>
        </p:nvSpPr>
        <p:spPr>
          <a:xfrm>
            <a:off x="7711713" y="1506022"/>
            <a:ext cx="36420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Adaptive Instance Normalization:</a:t>
            </a:r>
          </a:p>
          <a:p>
            <a:pPr marL="457200" indent="-457200">
              <a:buAutoNum type="arabicParenR"/>
            </a:pPr>
            <a:r>
              <a:rPr lang="en-US" sz="2000" dirty="0"/>
              <a:t>Subtract existing style</a:t>
            </a:r>
          </a:p>
          <a:p>
            <a:pPr marL="457200" indent="-457200">
              <a:buAutoNum type="arabicParenR"/>
            </a:pPr>
            <a:r>
              <a:rPr lang="en-US" sz="2000" dirty="0"/>
              <a:t>Add new style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05998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8AE1A-7949-6A85-00D5-A5046D643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StyleGAN2 (2019), StyleGAN3 (2021)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AAE60A-0B55-0E0A-54F6-331AE8BB0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27" y="2042908"/>
            <a:ext cx="3313564" cy="45155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50E55F-E9AF-5D01-C3C6-57C90BA23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837" y="2071046"/>
            <a:ext cx="3313564" cy="4507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801C04-C13A-90E0-804A-459E8C2D68B3}"/>
              </a:ext>
            </a:extLst>
          </p:cNvPr>
          <p:cNvSpPr txBox="1"/>
          <p:nvPr/>
        </p:nvSpPr>
        <p:spPr>
          <a:xfrm>
            <a:off x="838200" y="1517673"/>
            <a:ext cx="3711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Even better generation properties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83818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192</Words>
  <Application>Microsoft Office PowerPoint</Application>
  <PresentationFormat>Широкоэкранный</PresentationFormat>
  <Paragraphs>41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Generative Adversarial Networks</vt:lpstr>
      <vt:lpstr>Deep Convolutional GAN (DCGAN, 2015)</vt:lpstr>
      <vt:lpstr>DCGAN</vt:lpstr>
      <vt:lpstr>Pix2Pix (2016)</vt:lpstr>
      <vt:lpstr>Pix2Pix</vt:lpstr>
      <vt:lpstr>CycleGAN (2017)</vt:lpstr>
      <vt:lpstr>CycleGAN</vt:lpstr>
      <vt:lpstr>StyleGAN (2018)</vt:lpstr>
      <vt:lpstr>StyleGAN</vt:lpstr>
      <vt:lpstr>StyleGAN2 (2019), StyleGAN3 (2021)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Kropotov, Dmitry</cp:lastModifiedBy>
  <cp:revision>107</cp:revision>
  <dcterms:created xsi:type="dcterms:W3CDTF">2016-07-15T17:21:31Z</dcterms:created>
  <dcterms:modified xsi:type="dcterms:W3CDTF">2025-10-22T11:29:17Z</dcterms:modified>
</cp:coreProperties>
</file>