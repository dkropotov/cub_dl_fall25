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mp" ContentType="image/png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27"/>
  </p:notesMasterIdLst>
  <p:sldIdLst>
    <p:sldId id="256" r:id="rId5"/>
    <p:sldId id="265" r:id="rId6"/>
    <p:sldId id="266" r:id="rId7"/>
    <p:sldId id="257" r:id="rId8"/>
    <p:sldId id="258" r:id="rId9"/>
    <p:sldId id="267" r:id="rId10"/>
    <p:sldId id="270" r:id="rId11"/>
    <p:sldId id="271" r:id="rId12"/>
    <p:sldId id="279" r:id="rId13"/>
    <p:sldId id="272" r:id="rId14"/>
    <p:sldId id="273" r:id="rId15"/>
    <p:sldId id="274" r:id="rId16"/>
    <p:sldId id="275" r:id="rId17"/>
    <p:sldId id="276" r:id="rId18"/>
    <p:sldId id="278" r:id="rId19"/>
    <p:sldId id="277" r:id="rId20"/>
    <p:sldId id="261" r:id="rId21"/>
    <p:sldId id="260" r:id="rId22"/>
    <p:sldId id="262" r:id="rId23"/>
    <p:sldId id="263" r:id="rId24"/>
    <p:sldId id="259" r:id="rId25"/>
    <p:sldId id="264" r:id="rId26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Средний стиль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6" d="100"/>
          <a:sy n="66" d="100"/>
        </p:scale>
        <p:origin x="668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B9A202F-4299-479C-B15E-F143261314E2}" type="datetimeFigureOut">
              <a:rPr lang="ru-RU" smtClean="0"/>
              <a:t>12.11.2025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3F2C122-6047-4DF2-B658-83EED2B0EF1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721634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3F2C122-6047-4DF2-B658-83EED2B0EF10}" type="slidenum">
              <a:rPr lang="ru-RU" smtClean="0"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390345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C0110C-44BF-413A-8FA8-51FBC9510905}" type="datetimeFigureOut">
              <a:rPr lang="ru-RU" smtClean="0"/>
              <a:t>12.11.2025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E6F2DD-97A6-4ADB-A4AD-00C5B7798F0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217076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C0110C-44BF-413A-8FA8-51FBC9510905}" type="datetimeFigureOut">
              <a:rPr lang="ru-RU" smtClean="0"/>
              <a:t>12.11.2025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E6F2DD-97A6-4ADB-A4AD-00C5B7798F0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694527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C0110C-44BF-413A-8FA8-51FBC9510905}" type="datetimeFigureOut">
              <a:rPr lang="ru-RU" smtClean="0"/>
              <a:t>12.11.2025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E6F2DD-97A6-4ADB-A4AD-00C5B7798F0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994101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C0110C-44BF-413A-8FA8-51FBC9510905}" type="datetimeFigureOut">
              <a:rPr lang="ru-RU" smtClean="0"/>
              <a:t>12.11.2025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E6F2DD-97A6-4ADB-A4AD-00C5B7798F0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888988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C0110C-44BF-413A-8FA8-51FBC9510905}" type="datetimeFigureOut">
              <a:rPr lang="ru-RU" smtClean="0"/>
              <a:t>12.11.2025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E6F2DD-97A6-4ADB-A4AD-00C5B7798F0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271920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C0110C-44BF-413A-8FA8-51FBC9510905}" type="datetimeFigureOut">
              <a:rPr lang="ru-RU" smtClean="0"/>
              <a:t>12.11.2025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E6F2DD-97A6-4ADB-A4AD-00C5B7798F0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454441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C0110C-44BF-413A-8FA8-51FBC9510905}" type="datetimeFigureOut">
              <a:rPr lang="ru-RU" smtClean="0"/>
              <a:t>12.11.2025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E6F2DD-97A6-4ADB-A4AD-00C5B7798F0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041788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C0110C-44BF-413A-8FA8-51FBC9510905}" type="datetimeFigureOut">
              <a:rPr lang="ru-RU" smtClean="0"/>
              <a:t>12.11.2025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E6F2DD-97A6-4ADB-A4AD-00C5B7798F0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215151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C0110C-44BF-413A-8FA8-51FBC9510905}" type="datetimeFigureOut">
              <a:rPr lang="ru-RU" smtClean="0"/>
              <a:t>12.11.2025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E6F2DD-97A6-4ADB-A4AD-00C5B7798F0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115580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C0110C-44BF-413A-8FA8-51FBC9510905}" type="datetimeFigureOut">
              <a:rPr lang="ru-RU" smtClean="0"/>
              <a:t>12.11.2025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E6F2DD-97A6-4ADB-A4AD-00C5B7798F0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626512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C0110C-44BF-413A-8FA8-51FBC9510905}" type="datetimeFigureOut">
              <a:rPr lang="ru-RU" smtClean="0"/>
              <a:t>12.11.2025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E6F2DD-97A6-4ADB-A4AD-00C5B7798F0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897675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2C0110C-44BF-413A-8FA8-51FBC9510905}" type="datetimeFigureOut">
              <a:rPr lang="ru-RU" smtClean="0"/>
              <a:t>12.11.2025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CE6F2DD-97A6-4ADB-A4AD-00C5B7798F0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631356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tmp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tmp"/><Relationship Id="rId2" Type="http://schemas.openxmlformats.org/officeDocument/2006/relationships/image" Target="../media/image4.tmp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tmp"/><Relationship Id="rId2" Type="http://schemas.openxmlformats.org/officeDocument/2006/relationships/image" Target="../media/image6.tmp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tmp"/><Relationship Id="rId5" Type="http://schemas.openxmlformats.org/officeDocument/2006/relationships/image" Target="../media/image9.tmp"/><Relationship Id="rId4" Type="http://schemas.openxmlformats.org/officeDocument/2006/relationships/image" Target="../media/image8.tmp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tmp"/><Relationship Id="rId2" Type="http://schemas.openxmlformats.org/officeDocument/2006/relationships/image" Target="../media/image11.tmp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tmp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tmp"/><Relationship Id="rId2" Type="http://schemas.openxmlformats.org/officeDocument/2006/relationships/image" Target="../media/image15.tmp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tmp"/><Relationship Id="rId4" Type="http://schemas.openxmlformats.org/officeDocument/2006/relationships/image" Target="../media/image17.tmp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tmp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tmp"/><Relationship Id="rId2" Type="http://schemas.openxmlformats.org/officeDocument/2006/relationships/image" Target="../media/image20.tmp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tmp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tmp"/><Relationship Id="rId2" Type="http://schemas.openxmlformats.org/officeDocument/2006/relationships/image" Target="../media/image23.tmp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tmp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tmp"/><Relationship Id="rId2" Type="http://schemas.openxmlformats.org/officeDocument/2006/relationships/image" Target="../media/image26.tmp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9.tmp"/><Relationship Id="rId4" Type="http://schemas.openxmlformats.org/officeDocument/2006/relationships/image" Target="../media/image28.tmp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856648" y="1214438"/>
            <a:ext cx="10478703" cy="2387600"/>
          </a:xfrm>
        </p:spPr>
        <p:txBody>
          <a:bodyPr>
            <a:normAutofit fontScale="90000"/>
          </a:bodyPr>
          <a:lstStyle/>
          <a:p>
            <a:r>
              <a:rPr lang="en-US" dirty="0"/>
              <a:t>NN models for audio:</a:t>
            </a:r>
            <a:br>
              <a:rPr lang="en-US" dirty="0"/>
            </a:br>
            <a:r>
              <a:rPr lang="en-US" dirty="0"/>
              <a:t>Automatic Speech Recognition (ASR) and Text-To-Speech (TTS)</a:t>
            </a:r>
            <a:endParaRPr lang="ru-RU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endParaRPr lang="ru-RU" dirty="0"/>
          </a:p>
          <a:p>
            <a:r>
              <a:rPr lang="en-US" dirty="0"/>
              <a:t>Deep learning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9287023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3191810-C56C-BD40-715C-777F940EB5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ASR pipeline</a:t>
            </a:r>
            <a:endParaRPr lang="ru-RU" dirty="0"/>
          </a:p>
        </p:txBody>
      </p:sp>
      <p:pic>
        <p:nvPicPr>
          <p:cNvPr id="1026" name="Picture 2" descr="What is a Spectrogram? The Producer's Guide to Visual Audio | LANDR">
            <a:extLst>
              <a:ext uri="{FF2B5EF4-FFF2-40B4-BE49-F238E27FC236}">
                <a16:creationId xmlns:a16="http://schemas.microsoft.com/office/drawing/2014/main" id="{69E83AEE-909E-89D9-4050-99D4AA6E9A5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95513" y="1643812"/>
            <a:ext cx="2627697" cy="14780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C1B26C3-9975-0F5B-5BD7-4DC1A44B4AB7}"/>
              </a:ext>
            </a:extLst>
          </p:cNvPr>
          <p:cNvSpPr txBox="1"/>
          <p:nvPr/>
        </p:nvSpPr>
        <p:spPr>
          <a:xfrm>
            <a:off x="9307628" y="2608447"/>
            <a:ext cx="121411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400" dirty="0">
                <a:solidFill>
                  <a:schemeClr val="accent1">
                    <a:lumMod val="75000"/>
                  </a:schemeClr>
                </a:solidFill>
              </a:rPr>
              <a:t>Hello, …</a:t>
            </a:r>
            <a:endParaRPr lang="ru-RU" sz="24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945C795-06D4-9917-0ABA-A4A785B9E7A6}"/>
              </a:ext>
            </a:extLst>
          </p:cNvPr>
          <p:cNvSpPr txBox="1"/>
          <p:nvPr/>
        </p:nvSpPr>
        <p:spPr>
          <a:xfrm>
            <a:off x="1261710" y="3369887"/>
            <a:ext cx="223657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400" dirty="0"/>
              <a:t>Audio </a:t>
            </a:r>
            <a:r>
              <a:rPr lang="de-DE" sz="2400" dirty="0" err="1"/>
              <a:t>waveform</a:t>
            </a:r>
            <a:endParaRPr lang="ru-RU" sz="24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52D37A7-3F75-F78D-2C9D-6FC787958AC1}"/>
              </a:ext>
            </a:extLst>
          </p:cNvPr>
          <p:cNvSpPr txBox="1"/>
          <p:nvPr/>
        </p:nvSpPr>
        <p:spPr>
          <a:xfrm>
            <a:off x="4868728" y="3369887"/>
            <a:ext cx="288893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Log-</a:t>
            </a:r>
            <a:r>
              <a:rPr lang="de-DE" sz="2400" dirty="0"/>
              <a:t>Mel</a:t>
            </a:r>
            <a:r>
              <a:rPr lang="ru-RU" sz="2400" dirty="0"/>
              <a:t>-</a:t>
            </a:r>
            <a:r>
              <a:rPr lang="de-DE" sz="2400" dirty="0" err="1"/>
              <a:t>Spectrogram</a:t>
            </a:r>
            <a:endParaRPr lang="ru-RU" sz="24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95ECF9A-1611-0F78-E460-5F7484E22018}"/>
              </a:ext>
            </a:extLst>
          </p:cNvPr>
          <p:cNvSpPr txBox="1"/>
          <p:nvPr/>
        </p:nvSpPr>
        <p:spPr>
          <a:xfrm>
            <a:off x="9128104" y="3389135"/>
            <a:ext cx="163307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400" dirty="0"/>
              <a:t>Output </a:t>
            </a:r>
            <a:r>
              <a:rPr lang="de-DE" sz="2400" dirty="0" err="1"/>
              <a:t>text</a:t>
            </a:r>
            <a:endParaRPr lang="ru-RU" sz="2400" dirty="0"/>
          </a:p>
        </p:txBody>
      </p:sp>
      <p:sp>
        <p:nvSpPr>
          <p:cNvPr id="8" name="Стрелка: вправо 7">
            <a:extLst>
              <a:ext uri="{FF2B5EF4-FFF2-40B4-BE49-F238E27FC236}">
                <a16:creationId xmlns:a16="http://schemas.microsoft.com/office/drawing/2014/main" id="{83F718B4-30AB-B5CD-1148-BBD065D34509}"/>
              </a:ext>
            </a:extLst>
          </p:cNvPr>
          <p:cNvSpPr/>
          <p:nvPr/>
        </p:nvSpPr>
        <p:spPr>
          <a:xfrm>
            <a:off x="3786713" y="3534704"/>
            <a:ext cx="885524" cy="19250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Стрелка: вправо 8">
            <a:extLst>
              <a:ext uri="{FF2B5EF4-FFF2-40B4-BE49-F238E27FC236}">
                <a16:creationId xmlns:a16="http://schemas.microsoft.com/office/drawing/2014/main" id="{55BE52C0-C51C-1EE9-0454-9C81211C5046}"/>
              </a:ext>
            </a:extLst>
          </p:cNvPr>
          <p:cNvSpPr/>
          <p:nvPr/>
        </p:nvSpPr>
        <p:spPr>
          <a:xfrm>
            <a:off x="8050402" y="3523716"/>
            <a:ext cx="885524" cy="19250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A68A3FF-BAB6-B718-49F4-E857A5E453DE}"/>
              </a:ext>
            </a:extLst>
          </p:cNvPr>
          <p:cNvSpPr txBox="1"/>
          <p:nvPr/>
        </p:nvSpPr>
        <p:spPr>
          <a:xfrm>
            <a:off x="8182220" y="3107793"/>
            <a:ext cx="58221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NN</a:t>
            </a:r>
            <a:endParaRPr lang="ru-RU" sz="24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653CDEB-A63F-6CB7-C20C-719AE3E326FA}"/>
              </a:ext>
            </a:extLst>
          </p:cNvPr>
          <p:cNvSpPr txBox="1"/>
          <p:nvPr/>
        </p:nvSpPr>
        <p:spPr>
          <a:xfrm>
            <a:off x="1251284" y="4543124"/>
            <a:ext cx="8258928" cy="16312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i="1" dirty="0"/>
              <a:t>Some typical values: </a:t>
            </a:r>
          </a:p>
          <a:p>
            <a:r>
              <a:rPr lang="en-US" sz="2000" dirty="0"/>
              <a:t>Audio waveform sampling rate: 16kHz -&gt; 16000 points per second</a:t>
            </a:r>
          </a:p>
          <a:p>
            <a:r>
              <a:rPr lang="en-US" sz="2000" dirty="0"/>
              <a:t>Spectrogram hop length: 10 </a:t>
            </a:r>
            <a:r>
              <a:rPr lang="en-US" sz="2000" dirty="0" err="1"/>
              <a:t>ms</a:t>
            </a:r>
            <a:r>
              <a:rPr lang="en-US" sz="2000" dirty="0"/>
              <a:t> -&gt; spectrogram x scale 100 frames per second</a:t>
            </a:r>
          </a:p>
          <a:p>
            <a:r>
              <a:rPr lang="en-US" sz="2000" dirty="0"/>
              <a:t>Spectrogram window size: 25 </a:t>
            </a:r>
            <a:r>
              <a:rPr lang="en-US" sz="2000" dirty="0" err="1"/>
              <a:t>ms</a:t>
            </a:r>
            <a:endParaRPr lang="en-US" sz="2000" dirty="0"/>
          </a:p>
          <a:p>
            <a:r>
              <a:rPr lang="en-US" sz="2000" dirty="0"/>
              <a:t>Number of Mel filters: 80 -&gt; spectrogram y scale 80 values</a:t>
            </a:r>
            <a:endParaRPr lang="ru-RU" sz="2000" dirty="0"/>
          </a:p>
        </p:txBody>
      </p:sp>
      <p:pic>
        <p:nvPicPr>
          <p:cNvPr id="1030" name="Picture 6" descr="3.1. Waveform — Introduction to Speech Processing">
            <a:extLst>
              <a:ext uri="{FF2B5EF4-FFF2-40B4-BE49-F238E27FC236}">
                <a16:creationId xmlns:a16="http://schemas.microsoft.com/office/drawing/2014/main" id="{7D91E789-15AB-8E8C-967F-78FEFF7E300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3639" y="1695388"/>
            <a:ext cx="2787466" cy="14876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995862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594AEF5-D493-DE64-513D-BF965A09C0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ASR architectures</a:t>
            </a:r>
            <a:endParaRPr lang="ru-RU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ADF526E-DD82-E5B3-0F0A-96FFFFD131F6}"/>
              </a:ext>
            </a:extLst>
          </p:cNvPr>
          <p:cNvSpPr txBox="1"/>
          <p:nvPr/>
        </p:nvSpPr>
        <p:spPr>
          <a:xfrm>
            <a:off x="838200" y="2059806"/>
            <a:ext cx="10116152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LAS: encoder-decoder model with attention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err="1"/>
              <a:t>DeepSpeech</a:t>
            </a:r>
            <a:r>
              <a:rPr lang="en-US" sz="2400" dirty="0"/>
              <a:t>: encoder-only model with CTC loss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RNN-Transducer: encoder-decoder model with monotonic alignment, suitable for streaming ASR</a:t>
            </a:r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9683447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D1A9EA4-CFB1-80DF-AB6E-B61058F93E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Listen, Attend and Spell (LAS, 2015)</a:t>
            </a:r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03C94933-3312-373B-0319-3C8A8A6EC5A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5200" y="1353541"/>
            <a:ext cx="4638660" cy="550445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4D033E5-CE25-FCEC-A188-41320FD9652B}"/>
              </a:ext>
            </a:extLst>
          </p:cNvPr>
          <p:cNvSpPr txBox="1"/>
          <p:nvPr/>
        </p:nvSpPr>
        <p:spPr>
          <a:xfrm>
            <a:off x="6422195" y="1506022"/>
            <a:ext cx="568008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Architecture: Encoder-Decoder model with attention</a:t>
            </a:r>
            <a:endParaRPr lang="ru-RU" sz="20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E3FB9A2-731A-31FD-5D9C-3108139DDC13}"/>
              </a:ext>
            </a:extLst>
          </p:cNvPr>
          <p:cNvSpPr txBox="1"/>
          <p:nvPr/>
        </p:nvSpPr>
        <p:spPr>
          <a:xfrm>
            <a:off x="6422195" y="2071127"/>
            <a:ext cx="401488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Encoder: pyramid bidirectional LSTM</a:t>
            </a:r>
            <a:endParaRPr lang="ru-RU" sz="20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636287D-8E23-6390-831D-D50E1AD0A273}"/>
              </a:ext>
            </a:extLst>
          </p:cNvPr>
          <p:cNvSpPr txBox="1"/>
          <p:nvPr/>
        </p:nvSpPr>
        <p:spPr>
          <a:xfrm>
            <a:off x="6422195" y="3222711"/>
            <a:ext cx="263181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Inference: Beam search</a:t>
            </a:r>
            <a:endParaRPr lang="ru-RU" sz="20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74E2A11-D296-CC1E-7FE6-B0A8045A76DE}"/>
              </a:ext>
            </a:extLst>
          </p:cNvPr>
          <p:cNvSpPr txBox="1"/>
          <p:nvPr/>
        </p:nvSpPr>
        <p:spPr>
          <a:xfrm>
            <a:off x="6422195" y="2646919"/>
            <a:ext cx="334617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Decoder: autoregressive LSTM</a:t>
            </a:r>
            <a:endParaRPr lang="ru-RU" sz="20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923BD1F-C18E-D951-6235-16579DB0EFF2}"/>
              </a:ext>
            </a:extLst>
          </p:cNvPr>
          <p:cNvSpPr txBox="1"/>
          <p:nvPr/>
        </p:nvSpPr>
        <p:spPr>
          <a:xfrm>
            <a:off x="6422195" y="4386764"/>
            <a:ext cx="543518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Pros:</a:t>
            </a:r>
            <a:r>
              <a:rPr lang="en-US" sz="2000" dirty="0"/>
              <a:t> good quality, ability to use separately pretrained encoder for audio (Conformer-like) and decoder for text (GPT-like)</a:t>
            </a:r>
            <a:endParaRPr lang="ru-RU" sz="20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8BEBAD0-3029-22D2-A4E0-9F84915651F5}"/>
              </a:ext>
            </a:extLst>
          </p:cNvPr>
          <p:cNvSpPr txBox="1"/>
          <p:nvPr/>
        </p:nvSpPr>
        <p:spPr>
          <a:xfrm>
            <a:off x="6422195" y="5414160"/>
            <a:ext cx="317356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Cons:</a:t>
            </a:r>
            <a:r>
              <a:rPr lang="en-US" sz="2000" dirty="0"/>
              <a:t> very slow on inference</a:t>
            </a:r>
            <a:endParaRPr lang="ru-RU" sz="2000" dirty="0"/>
          </a:p>
        </p:txBody>
      </p:sp>
    </p:spTree>
    <p:extLst>
      <p:ext uri="{BB962C8B-B14F-4D97-AF65-F5344CB8AC3E}">
        <p14:creationId xmlns:p14="http://schemas.microsoft.com/office/powerpoint/2010/main" val="23566997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A009F22-B59E-C8E9-B6EA-0B99FD2086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Deep Speech 2 (2016)</a:t>
            </a:r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107E055E-A59E-3BD7-5126-BEFF3C8142E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14157" y="5261244"/>
            <a:ext cx="6293773" cy="1470590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7CE03064-7534-BE46-8F54-8888C3710E9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9380" y="1793673"/>
            <a:ext cx="4483975" cy="4527614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7E47E2C1-ED47-D9BC-8284-33127EBD256E}"/>
              </a:ext>
            </a:extLst>
          </p:cNvPr>
          <p:cNvSpPr txBox="1"/>
          <p:nvPr/>
        </p:nvSpPr>
        <p:spPr>
          <a:xfrm>
            <a:off x="5434035" y="1490633"/>
            <a:ext cx="477246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Architecture: Encoder only model + CTC loss</a:t>
            </a:r>
            <a:endParaRPr lang="ru-RU" sz="20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2AA8B35-FBA0-0AFB-3EEE-ED9E4A4DF644}"/>
              </a:ext>
            </a:extLst>
          </p:cNvPr>
          <p:cNvSpPr txBox="1"/>
          <p:nvPr/>
        </p:nvSpPr>
        <p:spPr>
          <a:xfrm>
            <a:off x="5453286" y="2776387"/>
            <a:ext cx="577793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Inference: beam search + separate language model (non-autoregressive word n-gram model like </a:t>
            </a:r>
            <a:r>
              <a:rPr lang="en-US" sz="2000" dirty="0" err="1"/>
              <a:t>KenLM</a:t>
            </a:r>
            <a:r>
              <a:rPr lang="en-US" sz="2000" dirty="0"/>
              <a:t>)</a:t>
            </a:r>
            <a:endParaRPr lang="ru-RU" sz="20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E219633-966E-5F23-C6AD-77A82CA83531}"/>
              </a:ext>
            </a:extLst>
          </p:cNvPr>
          <p:cNvSpPr txBox="1"/>
          <p:nvPr/>
        </p:nvSpPr>
        <p:spPr>
          <a:xfrm>
            <a:off x="5434035" y="1968810"/>
            <a:ext cx="614091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Encoder uses 1) convolutional layers (1d or 2d), 2) RNN layers and 3) FC layers</a:t>
            </a:r>
            <a:endParaRPr lang="ru-RU" sz="20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A013752-4CA4-0B17-9761-4F13BF2EB848}"/>
              </a:ext>
            </a:extLst>
          </p:cNvPr>
          <p:cNvSpPr txBox="1"/>
          <p:nvPr/>
        </p:nvSpPr>
        <p:spPr>
          <a:xfrm>
            <a:off x="5443482" y="3872536"/>
            <a:ext cx="289544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Pros:</a:t>
            </a:r>
            <a:r>
              <a:rPr lang="en-US" sz="2000" dirty="0"/>
              <a:t> fast inference</a:t>
            </a:r>
            <a:endParaRPr lang="ru-RU" sz="20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B7B7ACD-9BA0-32BE-23BA-DE9BB4ABE070}"/>
              </a:ext>
            </a:extLst>
          </p:cNvPr>
          <p:cNvSpPr txBox="1"/>
          <p:nvPr/>
        </p:nvSpPr>
        <p:spPr>
          <a:xfrm>
            <a:off x="5423604" y="4292070"/>
            <a:ext cx="543518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Cons:</a:t>
            </a:r>
            <a:r>
              <a:rPr lang="en-US" sz="2000" dirty="0"/>
              <a:t> requires separate language model, can’t use pretrained text decoder</a:t>
            </a:r>
            <a:endParaRPr lang="ru-RU" sz="2000" dirty="0"/>
          </a:p>
        </p:txBody>
      </p:sp>
    </p:spTree>
    <p:extLst>
      <p:ext uri="{BB962C8B-B14F-4D97-AF65-F5344CB8AC3E}">
        <p14:creationId xmlns:p14="http://schemas.microsoft.com/office/powerpoint/2010/main" val="30778371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6A2958A-6AE9-D0B2-5FBD-A669BE0C2A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Using language models on inference</a:t>
            </a:r>
            <a:endParaRPr lang="ru-RU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E92CFEC-8C21-02DE-CD98-59C44BE7AD69}"/>
              </a:ext>
            </a:extLst>
          </p:cNvPr>
          <p:cNvSpPr txBox="1"/>
          <p:nvPr/>
        </p:nvSpPr>
        <p:spPr>
          <a:xfrm>
            <a:off x="838200" y="1771049"/>
            <a:ext cx="329974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Example: I’ll write it right now</a:t>
            </a:r>
            <a:endParaRPr lang="ru-RU" sz="20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3376013-A9AB-1B1E-AC29-C4EEBA384D52}"/>
              </a:ext>
            </a:extLst>
          </p:cNvPr>
          <p:cNvSpPr txBox="1"/>
          <p:nvPr/>
        </p:nvSpPr>
        <p:spPr>
          <a:xfrm>
            <a:off x="838200" y="2261145"/>
            <a:ext cx="710264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Words “write”, “right”, “rite” have almost identical pronunciation</a:t>
            </a:r>
            <a:endParaRPr lang="ru-RU" sz="20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B8198B0-2930-3151-23BE-3265AC5747BA}"/>
              </a:ext>
            </a:extLst>
          </p:cNvPr>
          <p:cNvSpPr txBox="1"/>
          <p:nvPr/>
        </p:nvSpPr>
        <p:spPr>
          <a:xfrm>
            <a:off x="838200" y="2881397"/>
            <a:ext cx="1059661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err="1"/>
              <a:t>DeepSpeech</a:t>
            </a:r>
            <a:r>
              <a:rPr lang="en-US" sz="2000" b="1" dirty="0"/>
              <a:t>:</a:t>
            </a:r>
            <a:r>
              <a:rPr lang="en-US" sz="2000" dirty="0"/>
              <a:t> each output token is generated independently from each other =&gt; without separate language model can output “I’ll right it right now”</a:t>
            </a:r>
            <a:endParaRPr lang="ru-RU" sz="20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E256907-3B11-2C2C-0697-10832E2690D5}"/>
              </a:ext>
            </a:extLst>
          </p:cNvPr>
          <p:cNvSpPr txBox="1"/>
          <p:nvPr/>
        </p:nvSpPr>
        <p:spPr>
          <a:xfrm>
            <a:off x="838199" y="3851964"/>
            <a:ext cx="1059661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LAS:</a:t>
            </a:r>
            <a:r>
              <a:rPr lang="en-US" sz="2000" dirty="0"/>
              <a:t> decoder is autoregressive, next token is generated conditioned on previously generated token =&gt; can show good performance without additional language model</a:t>
            </a:r>
            <a:endParaRPr lang="ru-RU" sz="2000" dirty="0"/>
          </a:p>
        </p:txBody>
      </p:sp>
    </p:spTree>
    <p:extLst>
      <p:ext uri="{BB962C8B-B14F-4D97-AF65-F5344CB8AC3E}">
        <p14:creationId xmlns:p14="http://schemas.microsoft.com/office/powerpoint/2010/main" val="30716346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CDAF4EC-7F48-7708-419D-FAFF25BEA6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RNN Transducer (RNN-T, 2012)</a:t>
            </a:r>
            <a:endParaRPr lang="ru-RU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F833F03-6F18-D689-ED2C-4D8B7EB9CC8A}"/>
              </a:ext>
            </a:extLst>
          </p:cNvPr>
          <p:cNvSpPr txBox="1"/>
          <p:nvPr/>
        </p:nvSpPr>
        <p:spPr>
          <a:xfrm>
            <a:off x="838200" y="1771049"/>
            <a:ext cx="1095274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Transducer – the best from two worlds (LAS and </a:t>
            </a:r>
            <a:r>
              <a:rPr lang="en-US" sz="2000" dirty="0" err="1"/>
              <a:t>DeepSpeech</a:t>
            </a:r>
            <a:r>
              <a:rPr lang="en-US" sz="2000" dirty="0"/>
              <a:t>): fast inference, can use pretrained models, suitable for streaming ASR</a:t>
            </a:r>
            <a:endParaRPr lang="ru-RU" sz="20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2BBE27B-B9EC-6863-F7B4-B52068045197}"/>
              </a:ext>
            </a:extLst>
          </p:cNvPr>
          <p:cNvSpPr txBox="1"/>
          <p:nvPr/>
        </p:nvSpPr>
        <p:spPr>
          <a:xfrm>
            <a:off x="838200" y="2714325"/>
            <a:ext cx="727481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In ASR alignment between input audio and output text is monotonic</a:t>
            </a:r>
            <a:endParaRPr lang="ru-RU" sz="2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F0FE5D37-4398-0609-B094-79156E44F5F3}"/>
                  </a:ext>
                </a:extLst>
              </p:cNvPr>
              <p:cNvSpPr txBox="1"/>
              <p:nvPr/>
            </p:nvSpPr>
            <p:spPr>
              <a:xfrm>
                <a:off x="838200" y="3429000"/>
                <a:ext cx="9575763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000" b="1" dirty="0"/>
                  <a:t>Audio Encoder:</a:t>
                </a:r>
                <a:r>
                  <a:rPr lang="en-US" sz="2000" dirty="0"/>
                  <a:t> </a:t>
                </a:r>
                <a:r>
                  <a:rPr lang="en-US" sz="2000" dirty="0" err="1"/>
                  <a:t>biLSTM</a:t>
                </a:r>
                <a:r>
                  <a:rPr lang="en-US" sz="2000" dirty="0"/>
                  <a:t> or Conformer, for audio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,…, 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b>
                    </m:sSub>
                  </m:oMath>
                </a14:m>
                <a:r>
                  <a:rPr lang="en-US" sz="2000" dirty="0"/>
                  <a:t> outputs hidden vectors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b>
                    </m:sSub>
                  </m:oMath>
                </a14:m>
                <a:endParaRPr lang="ru-RU" sz="20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F0FE5D37-4398-0609-B094-79156E44F5F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3429000"/>
                <a:ext cx="9575763" cy="400110"/>
              </a:xfrm>
              <a:prstGeom prst="rect">
                <a:avLst/>
              </a:prstGeom>
              <a:blipFill>
                <a:blip r:embed="rId2"/>
                <a:stretch>
                  <a:fillRect l="-701" t="-9231" b="-26154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4981D25C-59C0-E22E-5DC7-D980A1AA3536}"/>
                  </a:ext>
                </a:extLst>
              </p:cNvPr>
              <p:cNvSpPr txBox="1"/>
              <p:nvPr/>
            </p:nvSpPr>
            <p:spPr>
              <a:xfrm>
                <a:off x="838200" y="4064500"/>
                <a:ext cx="10866120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b="1" dirty="0"/>
                  <a:t>Text decoder (prediction network):</a:t>
                </a:r>
                <a:r>
                  <a:rPr lang="en-US" sz="2000" dirty="0"/>
                  <a:t> autoregressive LSTM or GPT, for text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,…, 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𝑈</m:t>
                        </m:r>
                      </m:sub>
                    </m:sSub>
                  </m:oMath>
                </a14:m>
                <a:r>
                  <a:rPr lang="en-US" sz="2000" dirty="0"/>
                  <a:t> outputs hidden vectors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,…, 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𝑈</m:t>
                        </m:r>
                      </m:sub>
                    </m:sSub>
                  </m:oMath>
                </a14:m>
                <a:r>
                  <a:rPr lang="en-US" sz="2000" dirty="0"/>
                  <a:t> </a:t>
                </a:r>
                <a:endParaRPr lang="ru-RU" sz="20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4981D25C-59C0-E22E-5DC7-D980A1AA35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4064500"/>
                <a:ext cx="10866120" cy="707886"/>
              </a:xfrm>
              <a:prstGeom prst="rect">
                <a:avLst/>
              </a:prstGeom>
              <a:blipFill>
                <a:blip r:embed="rId3"/>
                <a:stretch>
                  <a:fillRect l="-617" t="-5172" b="-14655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D4A3A3C2-2817-DF27-164E-3AF3E8FCB2FC}"/>
                  </a:ext>
                </a:extLst>
              </p:cNvPr>
              <p:cNvSpPr txBox="1"/>
              <p:nvPr/>
            </p:nvSpPr>
            <p:spPr>
              <a:xfrm>
                <a:off x="838200" y="4899258"/>
                <a:ext cx="10596613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b="1" dirty="0"/>
                  <a:t>Joiner network:</a:t>
                </a:r>
                <a:r>
                  <a:rPr lang="en-US" sz="2000" dirty="0"/>
                  <a:t> small MLP, for each pair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𝑔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𝑢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sz="2000" dirty="0"/>
                  <a:t> outputs probabilities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|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000" dirty="0"/>
                  <a:t> for all text tokens and additional blank symbol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∅</m:t>
                    </m:r>
                  </m:oMath>
                </a14:m>
                <a:endParaRPr lang="ru-RU" sz="20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D4A3A3C2-2817-DF27-164E-3AF3E8FCB2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4899258"/>
                <a:ext cx="10596613" cy="707886"/>
              </a:xfrm>
              <a:prstGeom prst="rect">
                <a:avLst/>
              </a:prstGeom>
              <a:blipFill>
                <a:blip r:embed="rId4"/>
                <a:stretch>
                  <a:fillRect l="-633" t="-5172" r="-518" b="-14655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267512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271EEE2-0623-BBF9-043F-2FBCB5CD87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RNN-T Inference</a:t>
            </a:r>
            <a:endParaRPr lang="ru-R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6BBAC77C-9582-5DE4-6572-600133CE6AAE}"/>
                  </a:ext>
                </a:extLst>
              </p:cNvPr>
              <p:cNvSpPr txBox="1"/>
              <p:nvPr/>
            </p:nvSpPr>
            <p:spPr>
              <a:xfrm>
                <a:off x="838200" y="1771049"/>
                <a:ext cx="9317166" cy="224676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sz="2000" dirty="0"/>
                  <a:t> - current audio position,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lang="en-US" sz="2000" dirty="0"/>
                  <a:t> - current text position</a:t>
                </a:r>
              </a:p>
              <a:p>
                <a:endParaRPr lang="en-US" sz="2000" dirty="0"/>
              </a:p>
              <a:p>
                <a:pPr marL="457200" indent="-457200">
                  <a:buAutoNum type="arabicPeriod"/>
                </a:pPr>
                <a:r>
                  <a:rPr lang="en-US" sz="2000" dirty="0"/>
                  <a:t>For current pair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d>
                  </m:oMath>
                </a14:m>
                <a:r>
                  <a:rPr lang="en-US" sz="2000" dirty="0"/>
                  <a:t> compute probabilities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endChr m:val="|"/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000" dirty="0"/>
                  <a:t> from Joiner network</a:t>
                </a:r>
              </a:p>
              <a:p>
                <a:pPr marL="457200" indent="-457200">
                  <a:buAutoNum type="arabicPeriod"/>
                </a:pPr>
                <a:endParaRPr lang="en-US" sz="2000" dirty="0"/>
              </a:p>
              <a:p>
                <a:pPr marL="457200" indent="-457200">
                  <a:buAutoNum type="arabicPeriod"/>
                </a:pPr>
                <a:r>
                  <a:rPr lang="en-US" sz="2000" dirty="0"/>
                  <a:t>If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=∅</m:t>
                    </m:r>
                  </m:oMath>
                </a14:m>
                <a:r>
                  <a:rPr lang="en-US" sz="2000" dirty="0"/>
                  <a:t> has the highest probability, then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+1</m:t>
                    </m:r>
                  </m:oMath>
                </a14:m>
                <a:r>
                  <a:rPr lang="en-US" sz="2000" dirty="0"/>
                  <a:t>, “listen further”, go to step 1</a:t>
                </a:r>
              </a:p>
              <a:p>
                <a:pPr marL="457200" indent="-457200">
                  <a:buAutoNum type="arabicPeriod"/>
                </a:pPr>
                <a:endParaRPr lang="en-US" sz="2000" dirty="0"/>
              </a:p>
              <a:p>
                <a:pPr marL="457200" indent="-457200">
                  <a:buAutoNum type="arabicPeriod"/>
                </a:pPr>
                <a:r>
                  <a:rPr lang="en-US" sz="2000" dirty="0"/>
                  <a:t>If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≠∅ </m:t>
                    </m:r>
                  </m:oMath>
                </a14:m>
                <a:r>
                  <a:rPr lang="en-US" sz="2000" dirty="0"/>
                  <a:t>has the highest probability, then output this token,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+1</m:t>
                    </m:r>
                  </m:oMath>
                </a14:m>
                <a:r>
                  <a:rPr lang="en-US" sz="2000" dirty="0"/>
                  <a:t>, go to step 1</a:t>
                </a:r>
                <a:endParaRPr lang="ru-RU" sz="20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6BBAC77C-9582-5DE4-6572-600133CE6A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1771049"/>
                <a:ext cx="9317166" cy="2246769"/>
              </a:xfrm>
              <a:prstGeom prst="rect">
                <a:avLst/>
              </a:prstGeom>
              <a:blipFill>
                <a:blip r:embed="rId2"/>
                <a:stretch>
                  <a:fillRect l="-720" t="-1630" b="-4076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354819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D4D158B-00BC-A0E7-918B-DB1216AB42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RNN-T Training</a:t>
            </a:r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D986A5D9-C8F0-4896-91B4-32092E472BA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72957" y="1442042"/>
            <a:ext cx="3273085" cy="2902547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98613DC7-D873-EEBE-CB4B-BC3414793E5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9692" y="1999477"/>
            <a:ext cx="3848298" cy="349268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34B31363-37F3-59BF-96AA-FE60C868E03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9692" y="2476872"/>
            <a:ext cx="4057859" cy="368319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FAA584CF-02E3-67FD-BA3E-950C0304A1FF}"/>
              </a:ext>
            </a:extLst>
          </p:cNvPr>
          <p:cNvSpPr txBox="1"/>
          <p:nvPr/>
        </p:nvSpPr>
        <p:spPr>
          <a:xfrm>
            <a:off x="920817" y="1528616"/>
            <a:ext cx="535358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Consider Drop operation: drop all empty symbols </a:t>
            </a:r>
            <a:endParaRPr lang="ru-RU" sz="20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F62EDBB-DAD6-681A-1F5D-76416A166B8D}"/>
              </a:ext>
            </a:extLst>
          </p:cNvPr>
          <p:cNvSpPr txBox="1"/>
          <p:nvPr/>
        </p:nvSpPr>
        <p:spPr>
          <a:xfrm>
            <a:off x="949692" y="3193282"/>
            <a:ext cx="570656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Loss function for RNN-T is determined by probability:</a:t>
            </a:r>
            <a:endParaRPr lang="ru-RU" sz="2000" dirty="0"/>
          </a:p>
        </p:txBody>
      </p:sp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AEA8B01B-2252-843D-0642-72F35F477A3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8942" y="3655870"/>
            <a:ext cx="4343623" cy="958899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8D10FC4A-0815-4786-5248-544469AEAB85}"/>
              </a:ext>
            </a:extLst>
          </p:cNvPr>
          <p:cNvSpPr txBox="1"/>
          <p:nvPr/>
        </p:nvSpPr>
        <p:spPr>
          <a:xfrm>
            <a:off x="968942" y="4929274"/>
            <a:ext cx="742190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Efficient computation of this probability using Dynamic Programming:</a:t>
            </a:r>
            <a:endParaRPr lang="ru-RU" sz="2000" dirty="0"/>
          </a:p>
        </p:txBody>
      </p:sp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288B3BE4-0E7C-0FEE-683A-5F4CD9EBA06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2739" y="5399996"/>
            <a:ext cx="6985359" cy="3746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33049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5431D19-D293-2DE4-5EAD-B4B13D5365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RNN-T properties</a:t>
            </a:r>
            <a:endParaRPr lang="ru-RU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E92CFEC-8C21-02DE-CD98-59C44BE7AD69}"/>
              </a:ext>
            </a:extLst>
          </p:cNvPr>
          <p:cNvSpPr txBox="1"/>
          <p:nvPr/>
        </p:nvSpPr>
        <p:spPr>
          <a:xfrm>
            <a:off x="838200" y="1602276"/>
            <a:ext cx="639117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dirty="0"/>
              <a:t>For ASR streaming let’s process audio in chunks 300-500 </a:t>
            </a:r>
            <a:r>
              <a:rPr lang="en-US" sz="2000" dirty="0" err="1"/>
              <a:t>ms</a:t>
            </a:r>
            <a:endParaRPr lang="ru-RU" sz="2000" dirty="0"/>
          </a:p>
        </p:txBody>
      </p:sp>
      <p:sp>
        <p:nvSpPr>
          <p:cNvPr id="5" name="TextBox 3">
            <a:extLst>
              <a:ext uri="{FF2B5EF4-FFF2-40B4-BE49-F238E27FC236}">
                <a16:creationId xmlns:a16="http://schemas.microsoft.com/office/drawing/2014/main" id="{1E92CFEC-8C21-02DE-CD98-59C44BE7AD69}"/>
              </a:ext>
            </a:extLst>
          </p:cNvPr>
          <p:cNvSpPr txBox="1"/>
          <p:nvPr/>
        </p:nvSpPr>
        <p:spPr>
          <a:xfrm>
            <a:off x="838200" y="2218292"/>
            <a:ext cx="994913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dirty="0"/>
              <a:t>Prediction network is autoregressive =&gt; doesn’t need a separate language model on inference</a:t>
            </a:r>
            <a:endParaRPr lang="ru-RU" sz="2000" dirty="0"/>
          </a:p>
        </p:txBody>
      </p:sp>
      <p:sp>
        <p:nvSpPr>
          <p:cNvPr id="6" name="TextBox 3">
            <a:extLst>
              <a:ext uri="{FF2B5EF4-FFF2-40B4-BE49-F238E27FC236}">
                <a16:creationId xmlns:a16="http://schemas.microsoft.com/office/drawing/2014/main" id="{1E92CFEC-8C21-02DE-CD98-59C44BE7AD69}"/>
              </a:ext>
            </a:extLst>
          </p:cNvPr>
          <p:cNvSpPr txBox="1"/>
          <p:nvPr/>
        </p:nvSpPr>
        <p:spPr>
          <a:xfrm>
            <a:off x="838200" y="2834308"/>
            <a:ext cx="727006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dirty="0"/>
              <a:t>Can use pretrained models for both audio encoder and text decoder</a:t>
            </a:r>
            <a:endParaRPr lang="ru-RU" sz="2000" dirty="0"/>
          </a:p>
        </p:txBody>
      </p:sp>
    </p:spTree>
    <p:extLst>
      <p:ext uri="{BB962C8B-B14F-4D97-AF65-F5344CB8AC3E}">
        <p14:creationId xmlns:p14="http://schemas.microsoft.com/office/powerpoint/2010/main" val="37376502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10F346B-531C-A723-37E0-F1F0159A1A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Conformer (</a:t>
            </a:r>
            <a:r>
              <a:rPr lang="en-US" dirty="0" err="1"/>
              <a:t>CONvolution</a:t>
            </a:r>
            <a:r>
              <a:rPr lang="en-US" dirty="0"/>
              <a:t> + </a:t>
            </a:r>
            <a:r>
              <a:rPr lang="en-US" dirty="0" err="1"/>
              <a:t>transFORMER</a:t>
            </a:r>
            <a:r>
              <a:rPr lang="en-US" dirty="0"/>
              <a:t>)</a:t>
            </a:r>
            <a:endParaRPr lang="ru-RU" dirty="0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B815BF2C-8E9F-0E57-E126-F701868A78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1691" y="2156059"/>
            <a:ext cx="3912964" cy="4611930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C71D6442-A9B1-19C9-9EB2-87EE2A4F08E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01059" y="2091089"/>
            <a:ext cx="6760976" cy="815742"/>
          </a:xfrm>
          <a:prstGeom prst="rect">
            <a:avLst/>
          </a:prstGeom>
        </p:spPr>
      </p:pic>
      <p:sp>
        <p:nvSpPr>
          <p:cNvPr id="9" name="TextBox 3">
            <a:extLst>
              <a:ext uri="{FF2B5EF4-FFF2-40B4-BE49-F238E27FC236}">
                <a16:creationId xmlns:a16="http://schemas.microsoft.com/office/drawing/2014/main" id="{1E92CFEC-8C21-02DE-CD98-59C44BE7AD69}"/>
              </a:ext>
            </a:extLst>
          </p:cNvPr>
          <p:cNvSpPr txBox="1"/>
          <p:nvPr/>
        </p:nvSpPr>
        <p:spPr>
          <a:xfrm>
            <a:off x="1231289" y="1523263"/>
            <a:ext cx="240085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dirty="0"/>
              <a:t>General architecture:</a:t>
            </a:r>
            <a:endParaRPr lang="ru-RU" sz="2000" dirty="0"/>
          </a:p>
        </p:txBody>
      </p:sp>
      <p:sp>
        <p:nvSpPr>
          <p:cNvPr id="10" name="TextBox 3">
            <a:extLst>
              <a:ext uri="{FF2B5EF4-FFF2-40B4-BE49-F238E27FC236}">
                <a16:creationId xmlns:a16="http://schemas.microsoft.com/office/drawing/2014/main" id="{1E92CFEC-8C21-02DE-CD98-59C44BE7AD69}"/>
              </a:ext>
            </a:extLst>
          </p:cNvPr>
          <p:cNvSpPr txBox="1"/>
          <p:nvPr/>
        </p:nvSpPr>
        <p:spPr>
          <a:xfrm>
            <a:off x="7487709" y="1544985"/>
            <a:ext cx="230685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dirty="0"/>
              <a:t>Convolutional block:</a:t>
            </a:r>
            <a:endParaRPr lang="ru-RU" sz="2000" dirty="0"/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275AC9A5-19ED-A1F4-0B4E-4EB2ADE072D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12984" y="3843961"/>
            <a:ext cx="4776632" cy="928123"/>
          </a:xfrm>
          <a:prstGeom prst="rect">
            <a:avLst/>
          </a:prstGeom>
        </p:spPr>
      </p:pic>
      <p:sp>
        <p:nvSpPr>
          <p:cNvPr id="13" name="TextBox 3">
            <a:extLst>
              <a:ext uri="{FF2B5EF4-FFF2-40B4-BE49-F238E27FC236}">
                <a16:creationId xmlns:a16="http://schemas.microsoft.com/office/drawing/2014/main" id="{1E92CFEC-8C21-02DE-CD98-59C44BE7AD69}"/>
              </a:ext>
            </a:extLst>
          </p:cNvPr>
          <p:cNvSpPr txBox="1"/>
          <p:nvPr/>
        </p:nvSpPr>
        <p:spPr>
          <a:xfrm>
            <a:off x="5695146" y="3306281"/>
            <a:ext cx="601478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dirty="0"/>
              <a:t>Self-attention block with Relative Positional Embedding:</a:t>
            </a:r>
            <a:endParaRPr lang="ru-RU" sz="2000" dirty="0"/>
          </a:p>
        </p:txBody>
      </p:sp>
    </p:spTree>
    <p:extLst>
      <p:ext uri="{BB962C8B-B14F-4D97-AF65-F5344CB8AC3E}">
        <p14:creationId xmlns:p14="http://schemas.microsoft.com/office/powerpoint/2010/main" val="418693844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DE9035F-821B-D2E0-6BBE-79D96A348D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Relative Positional Embedding</a:t>
            </a:r>
            <a:endParaRPr lang="ru-R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3">
                <a:extLst>
                  <a:ext uri="{FF2B5EF4-FFF2-40B4-BE49-F238E27FC236}">
                    <a16:creationId xmlns:a16="http://schemas.microsoft.com/office/drawing/2014/main" id="{1E92CFEC-8C21-02DE-CD98-59C44BE7AD69}"/>
                  </a:ext>
                </a:extLst>
              </p:cNvPr>
              <p:cNvSpPr txBox="1"/>
              <p:nvPr/>
            </p:nvSpPr>
            <p:spPr>
              <a:xfrm>
                <a:off x="838200" y="1560063"/>
                <a:ext cx="6707605" cy="204004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>
                  <a:defRPr lang="ru-RU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𝑄</m:t>
                        </m:r>
                      </m:sub>
                    </m:sSub>
                  </m:oMath>
                </a14:m>
                <a:r>
                  <a:rPr lang="en-US" sz="2000" dirty="0"/>
                  <a:t> - query for position </a:t>
                </a:r>
                <a:r>
                  <a:rPr lang="de-DE" sz="2000" dirty="0"/>
                  <a:t>i,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𝐾</m:t>
                        </m:r>
                      </m:sub>
                    </m:sSub>
                  </m:oMath>
                </a14:m>
                <a:r>
                  <a:rPr lang="de-DE" sz="2000" dirty="0"/>
                  <a:t> - </a:t>
                </a:r>
                <a:r>
                  <a:rPr lang="en-US" sz="2000" dirty="0"/>
                  <a:t>key for position j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sz="2000" dirty="0"/>
                  <a:t> - learnable embeddings for each relative shift </a:t>
                </a:r>
                <a:r>
                  <a:rPr lang="en-US" sz="2000" dirty="0" err="1"/>
                  <a:t>i</a:t>
                </a:r>
                <a:r>
                  <a:rPr lang="en-US" sz="2000" dirty="0"/>
                  <a:t>-j</a:t>
                </a:r>
              </a:p>
              <a:p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en-US" sz="2000" dirty="0"/>
                  <a:t> – learnable global vectors</a:t>
                </a:r>
              </a:p>
              <a:p>
                <a:endParaRPr lang="en-US" sz="20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𝑆𝑐𝑜𝑟𝑒</m:t>
                      </m:r>
                      <m:d>
                        <m:d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e>
                      </m:d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sSubSup>
                        <m:sSubSup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bSup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sSubSup>
                        <m:sSubSup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bSup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𝑢</m:t>
                      </m:r>
                      <m:sSubSup>
                        <m:sSubSup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bSup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𝑣</m:t>
                      </m:r>
                      <m:sSubSup>
                        <m:sSubSup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bSup>
                    </m:oMath>
                  </m:oMathPara>
                </a14:m>
                <a:endParaRPr lang="en-US" sz="2000" dirty="0"/>
              </a:p>
              <a:p>
                <a:endParaRPr lang="en-US" sz="2000" dirty="0"/>
              </a:p>
            </p:txBody>
          </p:sp>
        </mc:Choice>
        <mc:Fallback xmlns="">
          <p:sp>
            <p:nvSpPr>
              <p:cNvPr id="14" name="TextBox 3">
                <a:extLst>
                  <a:ext uri="{FF2B5EF4-FFF2-40B4-BE49-F238E27FC236}">
                    <a16:creationId xmlns:a16="http://schemas.microsoft.com/office/drawing/2014/main" id="{1E92CFEC-8C21-02DE-CD98-59C44BE7AD6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1560063"/>
                <a:ext cx="6707605" cy="2040046"/>
              </a:xfrm>
              <a:prstGeom prst="rect">
                <a:avLst/>
              </a:prstGeom>
              <a:blipFill>
                <a:blip r:embed="rId2"/>
                <a:stretch>
                  <a:fillRect l="-273" t="-1493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359911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01CD70F-DD1A-06FB-9133-A9346A0188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Text Normalization</a:t>
            </a:r>
            <a:endParaRPr lang="ru-RU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A6813E9-B978-8F68-8A4A-028946708A4B}"/>
              </a:ext>
            </a:extLst>
          </p:cNvPr>
          <p:cNvSpPr txBox="1"/>
          <p:nvPr/>
        </p:nvSpPr>
        <p:spPr>
          <a:xfrm>
            <a:off x="729059" y="1560063"/>
            <a:ext cx="741683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dirty="0"/>
              <a:t>Text normalization: transformation of written text to pronounced text</a:t>
            </a:r>
            <a:endParaRPr lang="ru-RU" sz="20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C0EC8D8-DEFF-B18E-A5A0-C52012585268}"/>
              </a:ext>
            </a:extLst>
          </p:cNvPr>
          <p:cNvSpPr txBox="1"/>
          <p:nvPr/>
        </p:nvSpPr>
        <p:spPr>
          <a:xfrm>
            <a:off x="729059" y="2136808"/>
            <a:ext cx="967767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Example of input text:</a:t>
            </a:r>
            <a:r>
              <a:rPr lang="en-US" sz="2000" dirty="0"/>
              <a:t> Hi, Dr. Smith! We've seen the report from NASA... it's about $19.99, or 20% off the usual price. I saw it on the news at 3:00 PM. The FBI might investigate, </a:t>
            </a:r>
            <a:r>
              <a:rPr lang="en-US" sz="2000" dirty="0" err="1"/>
              <a:t>y'know</a:t>
            </a:r>
            <a:r>
              <a:rPr lang="en-US" sz="2000" dirty="0"/>
              <a:t>? [laughter]</a:t>
            </a:r>
            <a:endParaRPr lang="ru-RU" sz="20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966DC02-25D2-94C6-BBC8-3C7AEBFC9062}"/>
              </a:ext>
            </a:extLst>
          </p:cNvPr>
          <p:cNvSpPr txBox="1"/>
          <p:nvPr/>
        </p:nvSpPr>
        <p:spPr>
          <a:xfrm>
            <a:off x="729058" y="3429000"/>
            <a:ext cx="967767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Example of normalized text: </a:t>
            </a:r>
            <a:r>
              <a:rPr lang="en-US" sz="2000" dirty="0"/>
              <a:t>hi doctor smith we have seen the report from </a:t>
            </a:r>
            <a:r>
              <a:rPr lang="en-US" sz="2000" dirty="0" err="1"/>
              <a:t>nasa</a:t>
            </a:r>
            <a:r>
              <a:rPr lang="en-US" sz="2000" dirty="0"/>
              <a:t> it is about nineteen dollars and ninety nine cents or twenty percent off the usual price </a:t>
            </a:r>
            <a:r>
              <a:rPr lang="en-US" sz="2000" dirty="0" err="1"/>
              <a:t>i</a:t>
            </a:r>
            <a:r>
              <a:rPr lang="en-US" sz="2000" dirty="0"/>
              <a:t> saw it on the news at three p m the f b </a:t>
            </a:r>
            <a:r>
              <a:rPr lang="en-US" sz="2000" dirty="0" err="1"/>
              <a:t>i</a:t>
            </a:r>
            <a:r>
              <a:rPr lang="en-US" sz="2000" dirty="0"/>
              <a:t> might investigate you know</a:t>
            </a:r>
            <a:endParaRPr lang="ru-RU" sz="20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42A296C-B8A2-32F1-95E4-70F57EAEBD2A}"/>
              </a:ext>
            </a:extLst>
          </p:cNvPr>
          <p:cNvSpPr txBox="1"/>
          <p:nvPr/>
        </p:nvSpPr>
        <p:spPr>
          <a:xfrm>
            <a:off x="729058" y="4721192"/>
            <a:ext cx="10099363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/>
              <a:t>Elements of normalization: only lower case letters, no punctuation, numbers are pronounced, abbreviations are pronounced, special signs like $, % are pronounced, etc.</a:t>
            </a:r>
            <a:endParaRPr lang="ru-RU" sz="20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35B876E-B79C-003A-AD36-19940D5B2AF5}"/>
              </a:ext>
            </a:extLst>
          </p:cNvPr>
          <p:cNvSpPr txBox="1"/>
          <p:nvPr/>
        </p:nvSpPr>
        <p:spPr>
          <a:xfrm>
            <a:off x="729058" y="5713435"/>
            <a:ext cx="609760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/>
              <a:t>Inverse normalization operation is also needed</a:t>
            </a:r>
            <a:endParaRPr lang="ru-RU" sz="2000" dirty="0"/>
          </a:p>
        </p:txBody>
      </p:sp>
    </p:spTree>
    <p:extLst>
      <p:ext uri="{BB962C8B-B14F-4D97-AF65-F5344CB8AC3E}">
        <p14:creationId xmlns:p14="http://schemas.microsoft.com/office/powerpoint/2010/main" val="233288189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876FBCA-D70F-24DE-BF31-E5837B1BFA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Text tokenization</a:t>
            </a:r>
            <a:endParaRPr lang="ru-RU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B65F84E-D5BC-D613-F107-8514B94978A6}"/>
              </a:ext>
            </a:extLst>
          </p:cNvPr>
          <p:cNvSpPr txBox="1"/>
          <p:nvPr/>
        </p:nvSpPr>
        <p:spPr>
          <a:xfrm>
            <a:off x="838199" y="1575184"/>
            <a:ext cx="10515599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/>
              <a:t>Three options: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/>
              <a:t>Separate letters:</a:t>
            </a:r>
            <a:r>
              <a:rPr lang="en-US" sz="2000" dirty="0"/>
              <a:t> a, b, c, … + blank, unknown; leads to very long text sequences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/>
              <a:t>Phonemes: </a:t>
            </a:r>
            <a:r>
              <a:rPr lang="pt-BR" sz="2000" dirty="0"/>
              <a:t>hello → [h, ə, l, oʊ]; </a:t>
            </a:r>
            <a:r>
              <a:rPr lang="en-US" sz="2000" dirty="0"/>
              <a:t>logical from linguistics point of view, requires non-trivial Grapheme-To-Phoneme (G2P) and inversed Phoneme-To-Grapheme models </a:t>
            </a:r>
            <a:endParaRPr lang="ru-RU" sz="20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/>
              <a:t>The same letters may correspond to different pronunciation: tough, through, though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/>
              <a:t>The same pronunciation may correspond to different words: write, right, rite, wright</a:t>
            </a:r>
            <a:endParaRPr lang="ru-RU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/>
              <a:t>Text tokens:</a:t>
            </a:r>
            <a:r>
              <a:rPr lang="en-US" sz="2000" dirty="0"/>
              <a:t> BPE, </a:t>
            </a:r>
            <a:r>
              <a:rPr lang="en-US" sz="2000" dirty="0" err="1"/>
              <a:t>WordPiece</a:t>
            </a:r>
            <a:r>
              <a:rPr lang="en-US" sz="2000" dirty="0"/>
              <a:t>, etc.; modern mostly used approach, also needed in case of pretrained text models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/>
          </a:p>
          <a:p>
            <a:endParaRPr lang="ru-RU" sz="2000" dirty="0"/>
          </a:p>
        </p:txBody>
      </p:sp>
    </p:spTree>
    <p:extLst>
      <p:ext uri="{BB962C8B-B14F-4D97-AF65-F5344CB8AC3E}">
        <p14:creationId xmlns:p14="http://schemas.microsoft.com/office/powerpoint/2010/main" val="70907119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D212C0B-BF21-C99F-601E-9667CE040C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Audio augmentation</a:t>
            </a:r>
            <a:endParaRPr lang="ru-RU" dirty="0"/>
          </a:p>
        </p:txBody>
      </p:sp>
      <p:pic>
        <p:nvPicPr>
          <p:cNvPr id="3074" name="Picture 2" descr="Illustration of SpecAugment, where a new mel-spectrogram is generated... |  Download Scientific Diagram">
            <a:extLst>
              <a:ext uri="{FF2B5EF4-FFF2-40B4-BE49-F238E27FC236}">
                <a16:creationId xmlns:a16="http://schemas.microsoft.com/office/drawing/2014/main" id="{8D7A49E8-3D9E-C6A8-9B97-9ADAEAEA133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58014" y="2149393"/>
            <a:ext cx="7372531" cy="19949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26B4D07-A0F8-82FD-03B9-5EB2656FAC01}"/>
              </a:ext>
            </a:extLst>
          </p:cNvPr>
          <p:cNvSpPr txBox="1"/>
          <p:nvPr/>
        </p:nvSpPr>
        <p:spPr>
          <a:xfrm>
            <a:off x="838200" y="1555934"/>
            <a:ext cx="737253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b="1" dirty="0" err="1"/>
              <a:t>SpecAugment</a:t>
            </a:r>
            <a:r>
              <a:rPr lang="en-US" sz="2000" b="1" dirty="0"/>
              <a:t>:</a:t>
            </a:r>
            <a:r>
              <a:rPr lang="en-US" sz="2000" dirty="0"/>
              <a:t> Frequency and Time masking applied to spectrograms</a:t>
            </a:r>
            <a:endParaRPr lang="ru-RU" sz="20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FF8CB2E-C44E-D060-5BB8-39A841C6C646}"/>
              </a:ext>
            </a:extLst>
          </p:cNvPr>
          <p:cNvSpPr txBox="1"/>
          <p:nvPr/>
        </p:nvSpPr>
        <p:spPr>
          <a:xfrm>
            <a:off x="838200" y="4442719"/>
            <a:ext cx="739061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b="1" dirty="0"/>
              <a:t>Noise Injection:</a:t>
            </a:r>
            <a:r>
              <a:rPr lang="en-US" sz="2000" dirty="0"/>
              <a:t> adding different noise to initial audio in time domain</a:t>
            </a:r>
            <a:endParaRPr lang="ru-RU" sz="20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C370007-68C7-B4D3-9297-06C50073BC64}"/>
              </a:ext>
            </a:extLst>
          </p:cNvPr>
          <p:cNvSpPr txBox="1"/>
          <p:nvPr/>
        </p:nvSpPr>
        <p:spPr>
          <a:xfrm>
            <a:off x="838200" y="5063839"/>
            <a:ext cx="949849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b="1" dirty="0"/>
              <a:t>Acoustic Simulation:</a:t>
            </a:r>
            <a:r>
              <a:rPr lang="en-US" sz="2000" dirty="0"/>
              <a:t> adding filters of time domain audio in order to imitate big lecture hall, small bathroom, etc.</a:t>
            </a:r>
            <a:endParaRPr lang="ru-RU" sz="20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8E61D84-6B5A-612C-CCB9-E5DD1A877FD2}"/>
              </a:ext>
            </a:extLst>
          </p:cNvPr>
          <p:cNvSpPr txBox="1"/>
          <p:nvPr/>
        </p:nvSpPr>
        <p:spPr>
          <a:xfrm>
            <a:off x="838200" y="5913402"/>
            <a:ext cx="904254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b="1" dirty="0"/>
              <a:t>Time and Pitch distortion:</a:t>
            </a:r>
            <a:r>
              <a:rPr lang="en-US" sz="2000" dirty="0"/>
              <a:t> accelerate and slow down audio signal, shifting pitch (F0) </a:t>
            </a:r>
            <a:endParaRPr lang="ru-RU" sz="2000" dirty="0"/>
          </a:p>
        </p:txBody>
      </p:sp>
    </p:spTree>
    <p:extLst>
      <p:ext uri="{BB962C8B-B14F-4D97-AF65-F5344CB8AC3E}">
        <p14:creationId xmlns:p14="http://schemas.microsoft.com/office/powerpoint/2010/main" val="141821032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C196B76-0E2F-D23E-5D87-A5400B16FC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TTS pipeline</a:t>
            </a:r>
            <a:endParaRPr lang="ru-RU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4875F34-9ADC-8913-A032-A2F00EB2F436}"/>
              </a:ext>
            </a:extLst>
          </p:cNvPr>
          <p:cNvSpPr txBox="1"/>
          <p:nvPr/>
        </p:nvSpPr>
        <p:spPr>
          <a:xfrm>
            <a:off x="838200" y="2001411"/>
            <a:ext cx="140384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Input text</a:t>
            </a:r>
            <a:endParaRPr lang="ru-RU" sz="24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EFB954B-1476-A3CB-3EEE-3888B0A63357}"/>
              </a:ext>
            </a:extLst>
          </p:cNvPr>
          <p:cNvSpPr txBox="1"/>
          <p:nvPr/>
        </p:nvSpPr>
        <p:spPr>
          <a:xfrm>
            <a:off x="4816813" y="2037428"/>
            <a:ext cx="177644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Spectrogram</a:t>
            </a:r>
            <a:endParaRPr lang="ru-RU" sz="24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F12FB68-0464-A6A5-529C-41EFAF85A71D}"/>
              </a:ext>
            </a:extLst>
          </p:cNvPr>
          <p:cNvSpPr txBox="1"/>
          <p:nvPr/>
        </p:nvSpPr>
        <p:spPr>
          <a:xfrm>
            <a:off x="9084238" y="2032636"/>
            <a:ext cx="223657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Audio waveform</a:t>
            </a:r>
            <a:endParaRPr lang="ru-RU" sz="2400" dirty="0"/>
          </a:p>
        </p:txBody>
      </p:sp>
      <p:sp>
        <p:nvSpPr>
          <p:cNvPr id="8" name="Стрелка: вправо 7">
            <a:extLst>
              <a:ext uri="{FF2B5EF4-FFF2-40B4-BE49-F238E27FC236}">
                <a16:creationId xmlns:a16="http://schemas.microsoft.com/office/drawing/2014/main" id="{F64B8A39-088A-7D81-8140-7603F193DB96}"/>
              </a:ext>
            </a:extLst>
          </p:cNvPr>
          <p:cNvSpPr/>
          <p:nvPr/>
        </p:nvSpPr>
        <p:spPr>
          <a:xfrm>
            <a:off x="3122573" y="2179732"/>
            <a:ext cx="885524" cy="19250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Стрелка: вправо 8">
            <a:extLst>
              <a:ext uri="{FF2B5EF4-FFF2-40B4-BE49-F238E27FC236}">
                <a16:creationId xmlns:a16="http://schemas.microsoft.com/office/drawing/2014/main" id="{7FFD81BB-FC86-2E08-602B-2736C94CCFE3}"/>
              </a:ext>
            </a:extLst>
          </p:cNvPr>
          <p:cNvSpPr/>
          <p:nvPr/>
        </p:nvSpPr>
        <p:spPr>
          <a:xfrm>
            <a:off x="7429101" y="2177014"/>
            <a:ext cx="885524" cy="19250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E55BDE9-0652-71F1-88CC-0856DF428D4F}"/>
              </a:ext>
            </a:extLst>
          </p:cNvPr>
          <p:cNvSpPr txBox="1"/>
          <p:nvPr/>
        </p:nvSpPr>
        <p:spPr>
          <a:xfrm>
            <a:off x="2432242" y="1651961"/>
            <a:ext cx="223952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NN: Acoustic model</a:t>
            </a:r>
            <a:endParaRPr lang="ru-RU" sz="20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B104582-C682-29D3-9435-E018C5C3CB25}"/>
              </a:ext>
            </a:extLst>
          </p:cNvPr>
          <p:cNvSpPr txBox="1"/>
          <p:nvPr/>
        </p:nvSpPr>
        <p:spPr>
          <a:xfrm>
            <a:off x="7090249" y="1610741"/>
            <a:ext cx="150547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NN: Vocoder</a:t>
            </a:r>
            <a:endParaRPr lang="ru-RU" sz="20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3077097-A49E-45AD-C063-537B957FA7D4}"/>
              </a:ext>
            </a:extLst>
          </p:cNvPr>
          <p:cNvSpPr txBox="1"/>
          <p:nvPr/>
        </p:nvSpPr>
        <p:spPr>
          <a:xfrm>
            <a:off x="838200" y="2975225"/>
            <a:ext cx="772852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Acoustic model: requires audio transcript in training =&gt; small datasets</a:t>
            </a:r>
            <a:endParaRPr lang="ru-RU" sz="20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7CDE95D-3823-593C-D083-3094741684AC}"/>
              </a:ext>
            </a:extLst>
          </p:cNvPr>
          <p:cNvSpPr txBox="1"/>
          <p:nvPr/>
        </p:nvSpPr>
        <p:spPr>
          <a:xfrm>
            <a:off x="838200" y="3616714"/>
            <a:ext cx="61923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Vocoder: can train on all possible audios =&gt; huge datasets</a:t>
            </a:r>
            <a:endParaRPr lang="ru-RU" sz="2000" dirty="0"/>
          </a:p>
        </p:txBody>
      </p:sp>
    </p:spTree>
    <p:extLst>
      <p:ext uri="{BB962C8B-B14F-4D97-AF65-F5344CB8AC3E}">
        <p14:creationId xmlns:p14="http://schemas.microsoft.com/office/powerpoint/2010/main" val="127039017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F1D39D4-DB98-3D22-8A0C-63F545F8F1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Tacotron</a:t>
            </a:r>
            <a:r>
              <a:rPr lang="en-US" dirty="0"/>
              <a:t> 2 (2016)</a:t>
            </a:r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9F3DC907-94C9-A6CA-DAE3-6ED3EE4D2C1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690688"/>
            <a:ext cx="4538526" cy="338820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FA64B85-01C5-E42B-0E67-8B66908482C8}"/>
              </a:ext>
            </a:extLst>
          </p:cNvPr>
          <p:cNvSpPr txBox="1"/>
          <p:nvPr/>
        </p:nvSpPr>
        <p:spPr>
          <a:xfrm>
            <a:off x="6524655" y="1668080"/>
            <a:ext cx="496033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Architecture: Encoder-Decoder with attention</a:t>
            </a:r>
            <a:endParaRPr lang="ru-RU" sz="20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9C108D8-3C01-AB27-D10A-7ABA26B95E0C}"/>
              </a:ext>
            </a:extLst>
          </p:cNvPr>
          <p:cNvSpPr txBox="1"/>
          <p:nvPr/>
        </p:nvSpPr>
        <p:spPr>
          <a:xfrm>
            <a:off x="6524655" y="2267760"/>
            <a:ext cx="432571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dirty="0"/>
              <a:t>Local sensitive attention: use attention weight from previous steps</a:t>
            </a:r>
            <a:endParaRPr lang="ru-RU" sz="2000" dirty="0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021EBB2B-E8A9-C258-03B4-FD6A77C98A4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39396" y="3656224"/>
            <a:ext cx="4974466" cy="511210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573F466B-A550-84F9-7D80-9AC98FE685A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53530" y="3033688"/>
            <a:ext cx="1840358" cy="511210"/>
          </a:xfrm>
          <a:prstGeom prst="rect">
            <a:avLst/>
          </a:prstGeom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C346DF91-933F-5BE3-8AC6-61F51149DB0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77117" y="3148748"/>
            <a:ext cx="2036926" cy="40011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9AF745E4-1EA6-0715-5FEF-9C1CBB1855B4}"/>
              </a:ext>
            </a:extLst>
          </p:cNvPr>
          <p:cNvSpPr txBox="1"/>
          <p:nvPr/>
        </p:nvSpPr>
        <p:spPr>
          <a:xfrm>
            <a:off x="6500993" y="4419027"/>
            <a:ext cx="476117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dirty="0"/>
              <a:t>Use separate head for predicting stop token</a:t>
            </a:r>
            <a:endParaRPr lang="ru-RU" sz="2000" dirty="0"/>
          </a:p>
        </p:txBody>
      </p:sp>
    </p:spTree>
    <p:extLst>
      <p:ext uri="{BB962C8B-B14F-4D97-AF65-F5344CB8AC3E}">
        <p14:creationId xmlns:p14="http://schemas.microsoft.com/office/powerpoint/2010/main" val="317207695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8AE4D93-12E2-7DA3-AAB4-69E5FE78F0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Fast Speech</a:t>
            </a:r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9381C0DD-64C1-5E58-F5D0-0B57C3FD496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6560" y="1690688"/>
            <a:ext cx="7042519" cy="320808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97E991F-642A-4E47-040A-B927B4E2AE6A}"/>
              </a:ext>
            </a:extLst>
          </p:cNvPr>
          <p:cNvSpPr txBox="1"/>
          <p:nvPr/>
        </p:nvSpPr>
        <p:spPr>
          <a:xfrm>
            <a:off x="7714299" y="1690688"/>
            <a:ext cx="44777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Phoneme-to-Spectrogram prediction problem</a:t>
            </a:r>
            <a:endParaRPr lang="ru-RU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D9BC8A9-5046-972B-526C-532051612172}"/>
              </a:ext>
            </a:extLst>
          </p:cNvPr>
          <p:cNvSpPr txBox="1"/>
          <p:nvPr/>
        </p:nvSpPr>
        <p:spPr>
          <a:xfrm>
            <a:off x="7738713" y="2444816"/>
            <a:ext cx="418698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Architecture: encoder-only with special length regulator block</a:t>
            </a:r>
            <a:endParaRPr lang="ru-RU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11B2CDC-27E4-CF86-0963-1B401B9E11B5}"/>
              </a:ext>
            </a:extLst>
          </p:cNvPr>
          <p:cNvSpPr txBox="1"/>
          <p:nvPr/>
        </p:nvSpPr>
        <p:spPr>
          <a:xfrm>
            <a:off x="7765705" y="3507887"/>
            <a:ext cx="418698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Duration Prediction: attention weights from separately trained Encoder-Attention-Decoder TTS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63109316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B76D04A-0119-6DB0-6DB7-BDEDAA475B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WaveNet</a:t>
            </a:r>
            <a:r>
              <a:rPr lang="en-US" dirty="0"/>
              <a:t> vocoder</a:t>
            </a:r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CD863C45-8A8F-B671-CEA0-1702CB4F2D2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7825" y="1479098"/>
            <a:ext cx="7251729" cy="250499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8EE7E1C-956F-733D-C34C-58D623C1F199}"/>
              </a:ext>
            </a:extLst>
          </p:cNvPr>
          <p:cNvSpPr txBox="1"/>
          <p:nvPr/>
        </p:nvSpPr>
        <p:spPr>
          <a:xfrm>
            <a:off x="838200" y="4126587"/>
            <a:ext cx="41195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Problem: Spectrogram -&gt; Audio waveform</a:t>
            </a:r>
            <a:endParaRPr lang="ru-RU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D6D2C4E-9550-8730-C9DA-F1A58D538515}"/>
              </a:ext>
            </a:extLst>
          </p:cNvPr>
          <p:cNvSpPr txBox="1"/>
          <p:nvPr/>
        </p:nvSpPr>
        <p:spPr>
          <a:xfrm>
            <a:off x="838200" y="4593468"/>
            <a:ext cx="72517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Audio part: autoregressive next audio element prediction generative model</a:t>
            </a:r>
            <a:endParaRPr lang="ru-RU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85DE822-8DF1-6530-B7C4-D773177229CD}"/>
              </a:ext>
            </a:extLst>
          </p:cNvPr>
          <p:cNvSpPr txBox="1"/>
          <p:nvPr/>
        </p:nvSpPr>
        <p:spPr>
          <a:xfrm>
            <a:off x="838200" y="5044665"/>
            <a:ext cx="65248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Architecture: a stack of dilated convolutions for large receptive field</a:t>
            </a:r>
            <a:endParaRPr lang="ru-RU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C330AA7-DCF7-0DF1-D87E-740D22240739}"/>
              </a:ext>
            </a:extLst>
          </p:cNvPr>
          <p:cNvSpPr txBox="1"/>
          <p:nvPr/>
        </p:nvSpPr>
        <p:spPr>
          <a:xfrm>
            <a:off x="838200" y="5537387"/>
            <a:ext cx="1077949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For conditional generation (condition = spectrogram) each spectrogram is </a:t>
            </a:r>
            <a:r>
              <a:rPr lang="en-US" dirty="0" err="1"/>
              <a:t>upsampled</a:t>
            </a:r>
            <a:r>
              <a:rPr lang="en-US" dirty="0"/>
              <a:t> using conv decoder and then each layer compute:</a:t>
            </a:r>
            <a:endParaRPr lang="ru-RU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FF64F6FF-5AEA-A27C-F096-82AA851D89F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62666" y="6220483"/>
            <a:ext cx="6063064" cy="4761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777414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0B65565-D9DD-FE10-5E42-0B1FBFC401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Parallel </a:t>
            </a:r>
            <a:r>
              <a:rPr lang="en-US" dirty="0" err="1"/>
              <a:t>WaveNet</a:t>
            </a:r>
            <a:r>
              <a:rPr lang="en-US" dirty="0"/>
              <a:t> vocoder</a:t>
            </a:r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13B85D61-101C-3D58-8A38-D976CE9AFF5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0449" y="1481808"/>
            <a:ext cx="6752210" cy="390833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7DC903D-D16C-417D-C1AB-778E1D3B13FE}"/>
              </a:ext>
            </a:extLst>
          </p:cNvPr>
          <p:cNvSpPr txBox="1"/>
          <p:nvPr/>
        </p:nvSpPr>
        <p:spPr>
          <a:xfrm>
            <a:off x="7969718" y="1488075"/>
            <a:ext cx="375385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Use idea of Inverse Autoregressive Flow for distillation of </a:t>
            </a:r>
            <a:r>
              <a:rPr lang="en-US" dirty="0" err="1"/>
              <a:t>WaveNet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63908709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B3C65E3-8F02-5DE3-7D40-F7451EB5EE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HiFi-GAN</a:t>
            </a:r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30A8AA1A-BBE7-8A06-A684-D8045BF603C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22861" y="1236519"/>
            <a:ext cx="6269140" cy="200719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73C2DE7-AFD6-0537-20AD-E0AAA127D78C}"/>
              </a:ext>
            </a:extLst>
          </p:cNvPr>
          <p:cNvSpPr txBox="1"/>
          <p:nvPr/>
        </p:nvSpPr>
        <p:spPr>
          <a:xfrm>
            <a:off x="838200" y="1506021"/>
            <a:ext cx="530549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Solve spectrogram-to-audio problem using GAN style generative model</a:t>
            </a:r>
            <a:endParaRPr lang="ru-RU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D4526CF-7323-6573-A147-C35AACF9C364}"/>
              </a:ext>
            </a:extLst>
          </p:cNvPr>
          <p:cNvSpPr txBox="1"/>
          <p:nvPr/>
        </p:nvSpPr>
        <p:spPr>
          <a:xfrm>
            <a:off x="838200" y="2276043"/>
            <a:ext cx="60342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Generator: predict audio using spectrogram using convolutional decoder (as input no noise is given)</a:t>
            </a:r>
            <a:endParaRPr lang="ru-RU" dirty="0"/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FE31B065-9A27-DEDE-7030-4193223FF0B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65588" y="3927766"/>
            <a:ext cx="2960189" cy="280619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013326FB-481C-457E-962F-569E8FCBB1B4}"/>
              </a:ext>
            </a:extLst>
          </p:cNvPr>
          <p:cNvSpPr txBox="1"/>
          <p:nvPr/>
        </p:nvSpPr>
        <p:spPr>
          <a:xfrm>
            <a:off x="838200" y="3138397"/>
            <a:ext cx="53054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Discriminator: predict true/fake classes for given audio</a:t>
            </a:r>
            <a:endParaRPr lang="ru-RU" dirty="0"/>
          </a:p>
        </p:txBody>
      </p:sp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64275522-AC7F-A382-7A0F-A7E46587DA7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56093" y="4115108"/>
            <a:ext cx="3672646" cy="2558811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CCD1AFA-6E9B-1263-009F-AE21DB61CDC7}"/>
              </a:ext>
            </a:extLst>
          </p:cNvPr>
          <p:cNvSpPr txBox="1"/>
          <p:nvPr/>
        </p:nvSpPr>
        <p:spPr>
          <a:xfrm>
            <a:off x="6799829" y="3539184"/>
            <a:ext cx="26841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Multi-period Discriminator</a:t>
            </a:r>
            <a:endParaRPr lang="ru-RU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1B7D6FA-582C-5020-C296-19206DCA7C1B}"/>
              </a:ext>
            </a:extLst>
          </p:cNvPr>
          <p:cNvSpPr txBox="1"/>
          <p:nvPr/>
        </p:nvSpPr>
        <p:spPr>
          <a:xfrm>
            <a:off x="2659850" y="3558434"/>
            <a:ext cx="25347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Multi-scale Discriminator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68439918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055F174-7080-A1B9-05D2-3ECE2C95A0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HiFi-GAN</a:t>
            </a:r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C76E7F78-2D26-136C-540C-582C14369F6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3796" y="1829443"/>
            <a:ext cx="6097248" cy="842991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D99E791D-6CCE-92A6-DA3C-D15038647C9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23096" y="1709938"/>
            <a:ext cx="4789383" cy="1461003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A14299BB-FC81-0467-EA36-8ADB07A4374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8790" y="3858502"/>
            <a:ext cx="3965372" cy="925254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3274ECEC-F43C-0305-1DD8-29494FF0DCF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8790" y="5674732"/>
            <a:ext cx="5337242" cy="891247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7D641D96-FE27-8439-47D0-87A9AC56FF1E}"/>
              </a:ext>
            </a:extLst>
          </p:cNvPr>
          <p:cNvSpPr txBox="1"/>
          <p:nvPr/>
        </p:nvSpPr>
        <p:spPr>
          <a:xfrm>
            <a:off x="864545" y="1411986"/>
            <a:ext cx="56441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Generator and discriminator losses are formulated as MSE</a:t>
            </a:r>
            <a:endParaRPr lang="ru-RU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57B3900-E11F-D566-F155-471FF7D4CB8E}"/>
              </a:ext>
            </a:extLst>
          </p:cNvPr>
          <p:cNvSpPr txBox="1"/>
          <p:nvPr/>
        </p:nvSpPr>
        <p:spPr>
          <a:xfrm>
            <a:off x="883795" y="3519733"/>
            <a:ext cx="101030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Mel-spectrogram loss: phi(x) – spectrogram of true waveform, phi(G(s)) – spectrogram of generated audio</a:t>
            </a:r>
            <a:endParaRPr lang="ru-RU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FC31547-4C8A-1D29-EECD-4BB698ED915C}"/>
              </a:ext>
            </a:extLst>
          </p:cNvPr>
          <p:cNvSpPr txBox="1"/>
          <p:nvPr/>
        </p:nvSpPr>
        <p:spPr>
          <a:xfrm>
            <a:off x="883795" y="5122524"/>
            <a:ext cx="1076277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Feature-matching loss: measure similarity between generated audio and true waveform using intermediate feature maps of discriminator 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545591794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9ca3d5f1-896c-4f19-981e-ff50afc86e84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990194D7F5B8E45929A0589A9D61EF9" ma:contentTypeVersion="13" ma:contentTypeDescription="Create a new document." ma:contentTypeScope="" ma:versionID="89b60a63904ed71abc69425d5c74033d">
  <xsd:schema xmlns:xsd="http://www.w3.org/2001/XMLSchema" xmlns:xs="http://www.w3.org/2001/XMLSchema" xmlns:p="http://schemas.microsoft.com/office/2006/metadata/properties" xmlns:ns3="9ca3d5f1-896c-4f19-981e-ff50afc86e84" xmlns:ns4="a7c3f102-a08f-4890-be0b-da0e00c6f645" targetNamespace="http://schemas.microsoft.com/office/2006/metadata/properties" ma:root="true" ma:fieldsID="95037f4be4dd70c1538b7dbf16457fce" ns3:_="" ns4:_="">
    <xsd:import namespace="9ca3d5f1-896c-4f19-981e-ff50afc86e84"/>
    <xsd:import namespace="a7c3f102-a08f-4890-be0b-da0e00c6f645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_activity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DateTaken" minOccurs="0"/>
                <xsd:element ref="ns3:MediaServiceSystemTags" minOccurs="0"/>
                <xsd:element ref="ns3:MediaServiceOCR" minOccurs="0"/>
                <xsd:element ref="ns3:MediaServiceGenerationTime" minOccurs="0"/>
                <xsd:element ref="ns3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ca3d5f1-896c-4f19-981e-ff50afc86e8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_activity" ma:index="12" nillable="true" ma:displayName="_activity" ma:hidden="true" ma:internalName="_activity">
      <xsd:simpleType>
        <xsd:restriction base="dms:Note"/>
      </xsd:simpleType>
    </xsd:element>
    <xsd:element name="MediaServiceDateTaken" ma:index="16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SystemTags" ma:index="17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9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0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7c3f102-a08f-4890-be0b-da0e00c6f645" elementFormDefault="qualified">
    <xsd:import namespace="http://schemas.microsoft.com/office/2006/documentManagement/types"/>
    <xsd:import namespace="http://schemas.microsoft.com/office/infopath/2007/PartnerControls"/>
    <xsd:element name="SharedWithUsers" ma:index="13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4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5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69EA5DE8-36C6-49BE-AD0D-BCCC836E2974}">
  <ds:schemaRefs>
    <ds:schemaRef ds:uri="http://purl.org/dc/terms/"/>
    <ds:schemaRef ds:uri="http://schemas.openxmlformats.org/package/2006/metadata/core-properties"/>
    <ds:schemaRef ds:uri="http://www.w3.org/XML/1998/namespace"/>
    <ds:schemaRef ds:uri="9ca3d5f1-896c-4f19-981e-ff50afc86e84"/>
    <ds:schemaRef ds:uri="http://purl.org/dc/elements/1.1/"/>
    <ds:schemaRef ds:uri="http://purl.org/dc/dcmitype/"/>
    <ds:schemaRef ds:uri="http://schemas.microsoft.com/office/infopath/2007/PartnerControls"/>
    <ds:schemaRef ds:uri="http://schemas.microsoft.com/office/2006/documentManagement/types"/>
    <ds:schemaRef ds:uri="a7c3f102-a08f-4890-be0b-da0e00c6f645"/>
    <ds:schemaRef ds:uri="http://schemas.microsoft.com/office/2006/metadata/properties"/>
  </ds:schemaRefs>
</ds:datastoreItem>
</file>

<file path=customXml/itemProps2.xml><?xml version="1.0" encoding="utf-8"?>
<ds:datastoreItem xmlns:ds="http://schemas.openxmlformats.org/officeDocument/2006/customXml" ds:itemID="{911C9815-F0CD-444E-B399-407294380FEA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5DF93DDB-10CB-4771-867F-3C049BD1CD1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ca3d5f1-896c-4f19-981e-ff50afc86e84"/>
    <ds:schemaRef ds:uri="a7c3f102-a08f-4890-be0b-da0e00c6f64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2181</TotalTime>
  <Words>1185</Words>
  <Application>Microsoft Office PowerPoint</Application>
  <PresentationFormat>Широкоэкранный</PresentationFormat>
  <Paragraphs>126</Paragraphs>
  <Slides>22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22</vt:i4>
      </vt:variant>
    </vt:vector>
  </HeadingPairs>
  <TitlesOfParts>
    <vt:vector size="27" baseType="lpstr">
      <vt:lpstr>Arial</vt:lpstr>
      <vt:lpstr>Calibri</vt:lpstr>
      <vt:lpstr>Calibri Light</vt:lpstr>
      <vt:lpstr>Cambria Math</vt:lpstr>
      <vt:lpstr>Тема Office</vt:lpstr>
      <vt:lpstr>NN models for audio: Automatic Speech Recognition (ASR) and Text-To-Speech (TTS)</vt:lpstr>
      <vt:lpstr>ASR pipeline</vt:lpstr>
      <vt:lpstr>ASR architectures</vt:lpstr>
      <vt:lpstr>Listen, Attend and Spell (LAS, 2015)</vt:lpstr>
      <vt:lpstr>Deep Speech 2 (2016)</vt:lpstr>
      <vt:lpstr>Using language models on inference</vt:lpstr>
      <vt:lpstr>RNN Transducer (RNN-T, 2012)</vt:lpstr>
      <vt:lpstr>RNN-T Inference</vt:lpstr>
      <vt:lpstr>RNN-T Training</vt:lpstr>
      <vt:lpstr>RNN-T properties</vt:lpstr>
      <vt:lpstr>Conformer (CONvolution + transFORMER)</vt:lpstr>
      <vt:lpstr>Relative Positional Embedding</vt:lpstr>
      <vt:lpstr>Text Normalization</vt:lpstr>
      <vt:lpstr>Text tokenization</vt:lpstr>
      <vt:lpstr>Audio augmentation</vt:lpstr>
      <vt:lpstr>TTS pipeline</vt:lpstr>
      <vt:lpstr>Tacotron 2 (2016)</vt:lpstr>
      <vt:lpstr>Fast Speech</vt:lpstr>
      <vt:lpstr>WaveNet vocoder</vt:lpstr>
      <vt:lpstr>Parallel WaveNet vocoder</vt:lpstr>
      <vt:lpstr>HiFi-GAN</vt:lpstr>
      <vt:lpstr>HiFi-GAN</vt:lpstr>
    </vt:vector>
  </TitlesOfParts>
  <Company>diakov.net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Deep Learning</dc:title>
  <dc:creator>Николаева</dc:creator>
  <cp:lastModifiedBy>Kropotov, Dmitry</cp:lastModifiedBy>
  <cp:revision>174</cp:revision>
  <dcterms:created xsi:type="dcterms:W3CDTF">2016-07-15T17:21:31Z</dcterms:created>
  <dcterms:modified xsi:type="dcterms:W3CDTF">2025-11-12T16:14:24Z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0x0101008990194D7F5B8E45929A0589A9D61EF9</vt:lpwstr>
  </property>
</Properties>
</file>